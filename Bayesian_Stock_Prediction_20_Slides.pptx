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" cy="466344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CC"/>
                </a:solidFill>
                <a:latin typeface="Segoe UI"/>
              </a:defRPr>
            </a:pPr>
            <a:r>
              <a:t>RESEARCH REPRODUCTION &amp; METHODOLOGY DEFENSE</a:t>
            </a:r>
          </a:p>
          <a:p>
            <a:pPr>
              <a:spcBef>
                <a:spcPts val="1200"/>
              </a:spcBef>
              <a:spcAft>
                <a:spcPts val="10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Bayesian Deep Learning and Probabilistic</a:t>
            </a:r>
            <a:br/>
            <a:r>
              <a:t>Forecasting of Stock Prices</a:t>
            </a:r>
          </a:p>
          <a:p>
            <a:pPr>
              <a:defRPr sz="1400">
                <a:solidFill>
                  <a:srgbClr val="C8DCF5"/>
                </a:solidFill>
                <a:latin typeface="Segoe UI"/>
              </a:defRPr>
            </a:pPr>
            <a:r>
              <a:t>A Comparative Study of Bayesian Neural Networks, Recurrent Architectures, and Probabilistic Baselines</a:t>
            </a:r>
          </a:p>
          <a:p>
            <a:pPr>
              <a:spcBef>
                <a:spcPts val="2400"/>
              </a:spcBef>
              <a:defRPr sz="1100">
                <a:solidFill>
                  <a:srgbClr val="A0B4D2"/>
                </a:solidFill>
                <a:latin typeface="Segoe UI"/>
              </a:defRPr>
            </a:pPr>
            <a:r>
              <a:t>Reference Paper: Nelufhangani, N., &amp; Maposa, D. (2026). Algorithms (MDPI), 19(5), 391. DOI: 10.3390/a19050391</a:t>
            </a:r>
            <a:br/>
            <a:r>
              <a:t>Presenter / Team: [Student / Presenter Name Placeholder]  •  Course / Subject: [AI/ML Capstone / Time-Series Modeling]</a:t>
            </a:r>
            <a:br/>
            <a:r>
              <a:t>Institution &amp; Faculty: [Department of Computer Science / Artificial Intelligence, University Name]</a:t>
            </a:r>
            <a:br/>
            <a:r>
              <a:t>Repository Implementation: github.com/gangasrujan4572/stock-prediction-BNN-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CC"/>
                </a:solidFill>
                <a:latin typeface="Segoe UI"/>
              </a:defRPr>
            </a:pPr>
            <a:r>
              <a:t>BACKGROUND &amp;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55F6E"/>
                </a:solidFill>
                <a:latin typeface="Segoe UI"/>
              </a:defRPr>
            </a:pPr>
            <a:r>
              <a:t>Slide 2 of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254D"/>
                </a:solidFill>
                <a:latin typeface="Segoe UI"/>
              </a:defRPr>
            </a:pPr>
            <a:r>
              <a:t>Introduction to Stock Price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254D"/>
                </a:solidFill>
              </a:defRPr>
            </a:pPr>
            <a:r>
              <a:t>The Financial Time-Series Challenge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A"/>
                </a:solidFill>
              </a:rPr>
              <a:t>• What is Stock Forecasting?</a:t>
            </a:r>
            <a:r>
              <a:rPr sz="1000">
                <a:solidFill>
                  <a:srgbClr val="555F6E"/>
                </a:solidFill>
              </a:rPr>
              <a:t> Estimating future equity prices or returns given historical market observations, volume, and technical indicators.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A"/>
                </a:solidFill>
              </a:rPr>
              <a:t>• High Volatility &amp; Noise:</a:t>
            </a:r>
            <a:r>
              <a:rPr sz="1000">
                <a:solidFill>
                  <a:srgbClr val="555F6E"/>
                </a:solidFill>
              </a:rPr>
              <a:t> Financial markets exhibit stochastic shocks, regime changes, macroeconomic news events, and continuous non-linear feedback loops.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A"/>
                </a:solidFill>
              </a:rPr>
              <a:t>• Temporal Dependencies:</a:t>
            </a:r>
            <a:r>
              <a:rPr sz="1000">
                <a:solidFill>
                  <a:srgbClr val="555F6E"/>
                </a:solidFill>
              </a:rPr>
              <a:t> Current price dynamics depend on multi-day historical momentum, moving averages, and market participant sentiment.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A"/>
                </a:solidFill>
              </a:rPr>
              <a:t>• The Limitation of Point Predictions:</a:t>
            </a:r>
            <a:r>
              <a:rPr sz="1000">
                <a:solidFill>
                  <a:srgbClr val="555F6E"/>
                </a:solidFill>
              </a:rPr>
              <a:t> A single predicted scalar (e.g. 'tomorrow price = 150 ZAR') conveys zero information about risk, downside exposure, or model confidence.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A"/>
                </a:solidFill>
              </a:rPr>
              <a:t>• Why Uncertainty Matters:</a:t>
            </a:r>
            <a:r>
              <a:rPr sz="1000">
                <a:solidFill>
                  <a:srgbClr val="555F6E"/>
                </a:solidFill>
              </a:rPr>
              <a:t> Real-world financial decision-making, Value-at-Risk (VaR), and capital allocation require predictive distributions, not single deterministic numbers.</a:t>
            </a:r>
          </a:p>
        </p:txBody>
      </p:sp>
      <p:pic>
        <p:nvPicPr>
          <p:cNvPr id="8" name="Picture 7" descr="Figure_1_FirstRand_Stock_Closing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3108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4572000"/>
            <a:ext cx="5212080" cy="17373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6634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4C96"/>
                </a:solidFill>
              </a:defRPr>
            </a:pPr>
            <a:r>
              <a:t>Empirical Observation: 20-Year Market Fluctuation</a:t>
            </a:r>
          </a:p>
          <a:p>
            <a:pPr>
              <a:spcBef>
                <a:spcPts val="400"/>
              </a:spcBef>
              <a:defRPr sz="950">
                <a:solidFill>
                  <a:srgbClr val="555F6E"/>
                </a:solidFill>
              </a:defRPr>
            </a:pPr>
            <a:r>
              <a:t>Over 5,187 trading days (2005–2025), FirstRand Limited displays massive long-term structural shifts, ranging from 888 to 8,679 ZAR. Standard static point-forecast models fail to capture this inherent dispersion.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CC"/>
                </a:solidFill>
                <a:latin typeface="Segoe UI"/>
              </a:defRPr>
            </a:pPr>
            <a:r>
              <a:t>CORE 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55F6E"/>
                </a:solidFill>
                <a:latin typeface="Segoe UI"/>
              </a:defRPr>
            </a:pPr>
            <a:r>
              <a:t>Slide 3 of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254D"/>
                </a:solidFill>
                <a:latin typeface="Segoe UI"/>
              </a:defRPr>
            </a:pPr>
            <a:r>
              <a:t>Problem Statement &amp; Research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C3333"/>
                </a:solidFill>
              </a:defRPr>
            </a:pPr>
            <a:r>
              <a:t>Deterministic Deep Learning Bottlenecks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A"/>
                </a:solidFill>
              </a:rPr>
              <a:t>• Non-Stationary Regimes:</a:t>
            </a:r>
            <a:r>
              <a:rPr sz="1000">
                <a:solidFill>
                  <a:srgbClr val="555F6E"/>
                </a:solidFill>
              </a:rPr>
              <a:t> Equity price distributions drift continuously over time; mean and variance calculated on historical data do not hold permanently.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A"/>
                </a:solidFill>
              </a:rPr>
              <a:t>• Out-of-Distribution Breakdown:</a:t>
            </a:r>
            <a:r>
              <a:rPr sz="1000">
                <a:solidFill>
                  <a:srgbClr val="555F6E"/>
                </a:solidFill>
              </a:rPr>
              <a:t> When future stock prices surge past all historical training peaks, standard neural networks with bounded activations saturate and produce huge errors.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A"/>
                </a:solidFill>
              </a:rPr>
              <a:t>• Silent Overconfidence:</a:t>
            </a:r>
            <a:r>
              <a:rPr sz="1000">
                <a:solidFill>
                  <a:srgbClr val="555F6E"/>
                </a:solidFill>
              </a:rPr>
              <a:t> Standard models output a single point estimate with 100% false certainty, regardless of whether market volatility is calm or explosive.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A"/>
                </a:solidFill>
              </a:rPr>
              <a:t>• The Probabilistic Paradigm:</a:t>
            </a:r>
            <a:r>
              <a:rPr sz="1000">
                <a:solidFill>
                  <a:srgbClr val="555F6E"/>
                </a:solidFill>
              </a:rPr>
              <a:t> A robust financial model must output a probability distribution p(y|x) that widens during volatile regimes and narrows during stable regimes.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4C96"/>
                </a:solidFill>
              </a:defRPr>
            </a:pPr>
            <a:r>
              <a:t>Point Forecast vs. Probabilistic Forecast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A"/>
                </a:solidFill>
              </a:rPr>
              <a:t>• Deterministic Approach:</a:t>
            </a:r>
            <a:r>
              <a:rPr sz="1000">
                <a:solidFill>
                  <a:srgbClr val="555F6E"/>
                </a:solidFill>
              </a:rPr>
              <a:t> Output = Single scalar price y_hat.
→ Conveys no error bound.
→ Cannot assess probability of catastrophic loss.
→ Downside risk remains completely unmodeled.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A"/>
                </a:solidFill>
              </a:rPr>
              <a:t>• Bayesian Probabilistic Approach:</a:t>
            </a:r>
            <a:r>
              <a:rPr sz="1000">
                <a:solidFill>
                  <a:srgbClr val="555F6E"/>
                </a:solidFill>
              </a:rPr>
              <a:t> Output = Predictive distribution p(y*|x*, D) with predictive mean μ* and predictive variance σ*².
→ Generates nominal 95% Confidence Intervals [L, U].
→ Automatically quantifies model epistemic parameter uncertainty.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A"/>
                </a:solidFill>
              </a:rPr>
              <a:t>• Central Research Question:</a:t>
            </a:r>
            <a:r>
              <a:rPr sz="1000">
                <a:solidFill>
                  <a:srgbClr val="555F6E"/>
                </a:solidFill>
              </a:rPr>
              <a:t> Can Bayesian Neural Networks provide accurate point forecasts while delivering well-calibrated, reliable 95% prediction intervals in volatile emerging equity markets?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CC"/>
                </a:solidFill>
                <a:latin typeface="Segoe UI"/>
              </a:defRPr>
            </a:pPr>
            <a:r>
              <a:t>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55F6E"/>
                </a:solidFill>
                <a:latin typeface="Segoe UI"/>
              </a:defRPr>
            </a:pPr>
            <a:r>
              <a:t>Slide 4 of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254D"/>
                </a:solidFill>
                <a:latin typeface="Segoe UI"/>
              </a:defRPr>
            </a:pPr>
            <a:r>
              <a:t>Research Objectives &amp;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184C96"/>
                </a:solidFill>
              </a:rPr>
              <a:t>Objective 1: Paper Methodology Reproduction: </a:t>
            </a:r>
            <a:r>
              <a:rPr sz="1000">
                <a:solidFill>
                  <a:srgbClr val="555F6E"/>
                </a:solidFill>
              </a:rPr>
              <a:t>Implement the data processing, feature engineering, and Bayesian deep learning architectures described in Nelufhangani &amp; Maposa (2026) using Python and PyTorch.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0728655" cy="86868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184C96"/>
                </a:solidFill>
              </a:rPr>
              <a:t>Objective 2: Bayesian Model Development: </a:t>
            </a:r>
            <a:r>
              <a:rPr sz="1000">
                <a:solidFill>
                  <a:srgbClr val="555F6E"/>
                </a:solidFill>
              </a:rPr>
              <a:t>Construct a 2-layer Bayesian Neural Network (BNN via Bayes by Backprop) and a 2-layer Bayesian LSTM (via Monte Carlo Dropout) with S=100 stochastic forward passes.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728655" cy="86868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184C96"/>
                </a:solidFill>
              </a:rPr>
              <a:t>Objective 3: Baseline Benchmarking: </a:t>
            </a:r>
            <a:r>
              <a:rPr sz="1000">
                <a:solidFill>
                  <a:srgbClr val="555F6E"/>
                </a:solidFill>
              </a:rPr>
              <a:t>Implement Gaussian Process Regression (GPR with RBF+WhiteKernel), deterministic Standard LSTM, and rolling walk-forward ARIMA(1, 1, 1) as benchmarks.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10728655" cy="86868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184C96"/>
                </a:solidFill>
              </a:rPr>
              <a:t>Objective 4: Dual Metric Evaluation: </a:t>
            </a:r>
            <a:r>
              <a:rPr sz="1000">
                <a:solidFill>
                  <a:srgbClr val="555F6E"/>
                </a:solidFill>
              </a:rPr>
              <a:t>Evaluate models across point error metrics (MAE, RMSE, MSE) and Uncertainty Quantification metrics (PICP nominal 95% coverage, MPIW interval width).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728655" cy="86868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184C96"/>
                </a:solidFill>
              </a:rPr>
              <a:t>Objective 5: Transparent Discrepancy Analysis: </a:t>
            </a:r>
            <a:r>
              <a:rPr sz="1000">
                <a:solidFill>
                  <a:srgbClr val="555F6E"/>
                </a:solidFill>
              </a:rPr>
              <a:t>Examine and document the empirical progression between naive baseline level targeting, validation-tuned reproduction, and published paper numbers without fabricating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CC"/>
                </a:solidFill>
                <a:latin typeface="Segoe UI"/>
              </a:defRPr>
            </a:pPr>
            <a:r>
              <a:t>LITERATURE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55F6E"/>
                </a:solidFill>
                <a:latin typeface="Segoe UI"/>
              </a:defRPr>
            </a:pPr>
            <a:r>
              <a:t>Slide 5 of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254D"/>
                </a:solidFill>
                <a:latin typeface="Segoe UI"/>
              </a:defRPr>
            </a:pPr>
            <a:r>
              <a:t>Research Paper Overview &amp; Model Taxonomy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12801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54D"/>
                </a:solidFill>
              </a:defRPr>
            </a:pPr>
            <a:r>
              <a:t>Reference Publication Details</a:t>
            </a:r>
          </a:p>
          <a:p>
            <a:pPr>
              <a:spcBef>
                <a:spcPts val="400"/>
              </a:spcBef>
              <a:defRPr sz="1000">
                <a:solidFill>
                  <a:srgbClr val="555F6E"/>
                </a:solidFill>
              </a:defRPr>
            </a:pPr>
            <a:r>
              <a:t>• Title: Bayesian Deep Learning and Probabilistic Forecasting of Stock Prices</a:t>
            </a:r>
            <a:br/>
            <a:r>
              <a:t>• Authors: Ndivhuwo Nelufhangani and Daniel Maposa  •  Journal: Algorithms (MDPI), 2026, Volume 19, Issue 5, Article 391</a:t>
            </a:r>
            <a:br/>
            <a:r>
              <a:t>• DOI: https://doi.org/10.3390/a19050391  •  Study Domain: Johannesburg Stock Exchange (JSE) Equities (2005–2025)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2542032" cy="34747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22677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4C96"/>
                </a:solidFill>
              </a:defRPr>
            </a:pPr>
            <a:r>
              <a:t>Bayesian Neural Network (BNN)</a:t>
            </a:r>
          </a:p>
          <a:p>
            <a:pPr>
              <a:spcBef>
                <a:spcPts val="800"/>
              </a:spcBef>
              <a:defRPr sz="950">
                <a:solidFill>
                  <a:srgbClr val="555F6E"/>
                </a:solidFill>
              </a:defRPr>
            </a:pPr>
            <a:r>
              <a:t>Bayes by Backprop (BBB)</a:t>
            </a:r>
            <a:br/>
            <a:r>
              <a:t>Gaussian N(0, 1) prior</a:t>
            </a:r>
            <a:br/>
            <a:r>
              <a:t>ELBO objective</a:t>
            </a:r>
            <a:br/>
            <a:r>
              <a:t>S=100 posterior draws</a:t>
            </a:r>
            <a:br/>
            <a:r>
              <a:t>Learns weight distributions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834640"/>
            <a:ext cx="2542032" cy="34747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2971800"/>
            <a:ext cx="22677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4C96"/>
                </a:solidFill>
              </a:defRPr>
            </a:pPr>
            <a:r>
              <a:t>Bayesian LSTM (Recurrent)</a:t>
            </a:r>
          </a:p>
          <a:p>
            <a:pPr>
              <a:spcBef>
                <a:spcPts val="800"/>
              </a:spcBef>
              <a:defRPr sz="950">
                <a:solidFill>
                  <a:srgbClr val="555F6E"/>
                </a:solidFill>
              </a:defRPr>
            </a:pPr>
            <a:r>
              <a:t>Monte Carlo Dropout</a:t>
            </a:r>
            <a:br/>
            <a:r>
              <a:t>p=0.2 active at test time</a:t>
            </a:r>
            <a:br/>
            <a:r>
              <a:t>Captures sequential memory</a:t>
            </a:r>
            <a:br/>
            <a:r>
              <a:t>S=100 stochastic passes</a:t>
            </a:r>
            <a:br/>
            <a:r>
              <a:t>Approx. deep GP inference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834640"/>
            <a:ext cx="2542032" cy="34747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2971800"/>
            <a:ext cx="22677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4C96"/>
                </a:solidFill>
              </a:defRPr>
            </a:pPr>
            <a:r>
              <a:t>Gaussian Process Regression</a:t>
            </a:r>
          </a:p>
          <a:p>
            <a:pPr>
              <a:spcBef>
                <a:spcPts val="800"/>
              </a:spcBef>
              <a:defRPr sz="950">
                <a:solidFill>
                  <a:srgbClr val="555F6E"/>
                </a:solidFill>
              </a:defRPr>
            </a:pPr>
            <a:r>
              <a:t>Non-parametric kernel model</a:t>
            </a:r>
            <a:br/>
            <a:r>
              <a:t>Composite RBF + WhiteKernel</a:t>
            </a:r>
            <a:br/>
            <a:r>
              <a:t>Exact marginal likelihood</a:t>
            </a:r>
            <a:br/>
            <a:r>
              <a:t>Analytical posterior (μ*, Σ*)</a:t>
            </a:r>
            <a:br/>
            <a:r>
              <a:t>L-BFGS-B (5 restarts)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2834640"/>
            <a:ext cx="2542032" cy="34747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2971800"/>
            <a:ext cx="22677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4C96"/>
                </a:solidFill>
              </a:defRPr>
            </a:pPr>
            <a:r>
              <a:t>Traditional Baselines</a:t>
            </a:r>
          </a:p>
          <a:p>
            <a:pPr>
              <a:spcBef>
                <a:spcPts val="800"/>
              </a:spcBef>
              <a:defRPr sz="950">
                <a:solidFill>
                  <a:srgbClr val="555F6E"/>
                </a:solidFill>
              </a:defRPr>
            </a:pPr>
            <a:r>
              <a:t>Standard LSTM:</a:t>
            </a:r>
            <a:br/>
            <a:r>
              <a:t>Deterministic weights, eval mode</a:t>
            </a:r>
            <a:br/>
            <a:r>
              <a:t>ARIMA(1, 1, 1):</a:t>
            </a:r>
            <a:br/>
            <a:r>
              <a:t>Autoregressive moving average</a:t>
            </a:r>
            <a:br/>
            <a:r>
              <a:t>1-step walk-forward rolling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CC"/>
                </a:solidFill>
                <a:latin typeface="Segoe UI"/>
              </a:defRPr>
            </a:pPr>
            <a:r>
              <a:t>DATA PROFILING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55F6E"/>
                </a:solidFill>
                <a:latin typeface="Segoe UI"/>
              </a:defRPr>
            </a:pPr>
            <a:r>
              <a:t>Slide 6 of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254D"/>
                </a:solidFill>
                <a:latin typeface="Segoe UI"/>
              </a:defRPr>
            </a:pPr>
            <a:r>
              <a:t>Dataset Description &amp; Exploratory Data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ure_1_FirstRand_Stock_Closing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2377440"/>
          </a:xfrm>
          <a:prstGeom prst="rect">
            <a:avLst/>
          </a:prstGeom>
        </p:spPr>
      </p:pic>
      <p:pic>
        <p:nvPicPr>
          <p:cNvPr id="7" name="Picture 6" descr="Figure_2_Discovery_Stock_Closing_P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2377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3931920"/>
            <a:ext cx="10728655" cy="246888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254D"/>
                </a:solidFill>
              </a:defRPr>
            </a:pPr>
            <a:r>
              <a:t>Dataset Profiles: FirstRand Limited (FSR.JO) vs. Discovery Limited (DSY.JO)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91E2A"/>
                </a:solidFill>
              </a:rPr>
              <a:t>• Timeframe &amp; Observations:</a:t>
            </a:r>
            <a:r>
              <a:rPr sz="1000">
                <a:solidFill>
                  <a:srgbClr val="555F6E"/>
                </a:solidFill>
              </a:rPr>
              <a:t> January 2005 to May 2025, containing exactly 5,187 daily trading records downloaded from Yahoo Finance.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91E2A"/>
                </a:solidFill>
              </a:rPr>
              <a:t>• FirstRand Limited (Table 2):</a:t>
            </a:r>
            <a:r>
              <a:rPr sz="1000">
                <a:solidFill>
                  <a:srgbClr val="555F6E"/>
                </a:solidFill>
              </a:rPr>
              <a:t> Large-cap commercial banking equity. Mean Close = 3,958.77 ZAR, Std = 2,180.39, Min = 888.96, Max = 8,678.88. High liquidity with steady trend.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91E2A"/>
                </a:solidFill>
              </a:rPr>
              <a:t>• Discovery Limited (Table 3):</a:t>
            </a:r>
            <a:r>
              <a:rPr sz="1000">
                <a:solidFill>
                  <a:srgbClr val="555F6E"/>
                </a:solidFill>
              </a:rPr>
              <a:t> Health insurance and financial services equity. Mean Close = 8,990.66 ZAR, Std = 5,345.75, Min = 1,650.37, Max = 21,178.20. Extreme volatility and tail swings.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91E2A"/>
                </a:solidFill>
              </a:rPr>
              <a:t>• Usable Cleaned Samples:</a:t>
            </a:r>
            <a:r>
              <a:rPr sz="1000">
                <a:solidFill>
                  <a:srgbClr val="555F6E"/>
                </a:solidFill>
              </a:rPr>
              <a:t> First 20 rows discarded due to technical indicator rolling warmup periods, yielding exactly 5,167 clean observations.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CC"/>
                </a:solidFill>
                <a:latin typeface="Segoe UI"/>
              </a:defRPr>
            </a:pPr>
            <a:r>
              <a:t>FEATURE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55F6E"/>
                </a:solidFill>
                <a:latin typeface="Segoe UI"/>
              </a:defRPr>
            </a:pPr>
            <a:r>
              <a:t>Slide 7 of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254D"/>
                </a:solidFill>
                <a:latin typeface="Segoe UI"/>
              </a:defRPr>
            </a:pPr>
            <a:r>
              <a:t>Feature Engineering &amp; Correlation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254D"/>
                </a:solidFill>
              </a:defRPr>
            </a:pPr>
            <a:r>
              <a:t>The 11 Input Technical Features (Section 2.2)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91E2A"/>
                </a:solidFill>
              </a:rPr>
              <a:t>• 1–4. OHLC Prices:</a:t>
            </a:r>
            <a:r>
              <a:rPr sz="950">
                <a:solidFill>
                  <a:srgbClr val="555F6E"/>
                </a:solidFill>
              </a:rPr>
              <a:t> Open, High, Low, Close daily settlement values.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91E2A"/>
                </a:solidFill>
              </a:rPr>
              <a:t>• 5. Traded Volume:</a:t>
            </a:r>
            <a:r>
              <a:rPr sz="950">
                <a:solidFill>
                  <a:srgbClr val="555F6E"/>
                </a:solidFill>
              </a:rPr>
              <a:t> Daily volume of shares traded.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91E2A"/>
                </a:solidFill>
              </a:rPr>
              <a:t>• 6. Wilder's RSI (14):</a:t>
            </a:r>
            <a:r>
              <a:rPr sz="950">
                <a:solidFill>
                  <a:srgbClr val="555F6E"/>
                </a:solidFill>
              </a:rPr>
              <a:t> Relative Strength Index using Wilder smoothing: Gain/Loss via ewm(alpha=1/14). Measures momentum bounded in [0, 100].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91E2A"/>
                </a:solidFill>
              </a:rPr>
              <a:t>• 7. MACD Line (12, 26, 9):</a:t>
            </a:r>
            <a:r>
              <a:rPr sz="950">
                <a:solidFill>
                  <a:srgbClr val="555F6E"/>
                </a:solidFill>
              </a:rPr>
              <a:t> Moving Average Convergence Divergence: EMA(12) - EMA(26) with 9-day signal line.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91E2A"/>
                </a:solidFill>
              </a:rPr>
              <a:t>• 8–9. Moving Averages:</a:t>
            </a:r>
            <a:r>
              <a:rPr sz="950">
                <a:solidFill>
                  <a:srgbClr val="555F6E"/>
                </a:solidFill>
              </a:rPr>
              <a:t> 20-day Simple Moving Average (SMA-20) and 20-day Exponential Moving Average (EMA-20).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91E2A"/>
                </a:solidFill>
              </a:rPr>
              <a:t>• 10–11. Bollinger Bands:</a:t>
            </a:r>
            <a:r>
              <a:rPr sz="950">
                <a:solidFill>
                  <a:srgbClr val="555F6E"/>
                </a:solidFill>
              </a:rPr>
              <a:t> 20-day window, 2 std deviations: BB-Upper and BB-Lower bands representing dynamic volatility channels.</a:t>
            </a:r>
          </a:p>
        </p:txBody>
      </p:sp>
      <p:pic>
        <p:nvPicPr>
          <p:cNvPr id="8" name="Picture 7" descr="Figure_3_FirstRand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3017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4572000"/>
            <a:ext cx="5212080" cy="17373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6634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4C96"/>
                </a:solidFill>
              </a:defRPr>
            </a:pPr>
            <a:r>
              <a:t>Heatmap Interpretation (Figure 3 &amp; Figure 4)</a:t>
            </a:r>
          </a:p>
          <a:p>
            <a:pPr>
              <a:spcBef>
                <a:spcPts val="400"/>
              </a:spcBef>
              <a:defRPr sz="950">
                <a:solidFill>
                  <a:srgbClr val="555F6E"/>
                </a:solidFill>
              </a:defRPr>
            </a:pPr>
            <a:r>
              <a:t>• High Collinearity: OHLC, SMA, EMA, and Bollinger Bands show near-perfect correlation (r &gt; 0.98).</a:t>
            </a:r>
            <a:br/>
            <a:r>
              <a:t>• Momentum Decoupling: RSI and MACD exhibit low correlation with price levels (|r| &lt; 0.20), providing orthogonal signals that prevent simple inertia.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CC"/>
                </a:solidFill>
                <a:latin typeface="Segoe UI"/>
              </a:defRPr>
            </a:pPr>
            <a:r>
              <a:t>PIPELINE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55F6E"/>
                </a:solidFill>
                <a:latin typeface="Segoe UI"/>
              </a:defRPr>
            </a:pPr>
            <a:r>
              <a:t>Slide 8 of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254D"/>
                </a:solidFill>
                <a:latin typeface="Segoe UI"/>
              </a:defRPr>
            </a:pPr>
            <a:r>
              <a:t>Data Preprocessing &amp; Sliding Window Construction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42032" cy="21945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22677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4C96"/>
                </a:solidFill>
              </a:defRPr>
            </a:pPr>
            <a:r>
              <a:t>1. Data Cleansing</a:t>
            </a:r>
          </a:p>
          <a:p>
            <a:pPr>
              <a:spcBef>
                <a:spcPts val="600"/>
              </a:spcBef>
              <a:defRPr sz="950">
                <a:solidFill>
                  <a:srgbClr val="555F6E"/>
                </a:solidFill>
              </a:defRPr>
            </a:pPr>
            <a:r>
              <a:t>Load 5,187 daily OHLCV rows.</a:t>
            </a:r>
            <a:br/>
            <a:r>
              <a:t>Drop initial 20 rows with NaN.</a:t>
            </a:r>
            <a:br/>
            <a:r>
              <a:t>Leaves 5,167 clean observations.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371600"/>
            <a:ext cx="2542032" cy="21945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508760"/>
            <a:ext cx="22677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4C96"/>
                </a:solidFill>
              </a:defRPr>
            </a:pPr>
            <a:r>
              <a:t>2. Leak-Free Scaling</a:t>
            </a:r>
          </a:p>
          <a:p>
            <a:pPr>
              <a:spcBef>
                <a:spcPts val="600"/>
              </a:spcBef>
              <a:defRPr sz="950">
                <a:solidFill>
                  <a:srgbClr val="555F6E"/>
                </a:solidFill>
              </a:defRPr>
            </a:pPr>
            <a:r>
              <a:t>Z-score standardization:</a:t>
            </a:r>
            <a:br/>
            <a:r>
              <a:t>z = (x - μ_train) / σ_train</a:t>
            </a:r>
            <a:br/>
            <a:r>
              <a:t>μ, σ computed ONLY on train 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371600"/>
            <a:ext cx="2542032" cy="21945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508760"/>
            <a:ext cx="22677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4C96"/>
                </a:solidFill>
              </a:defRPr>
            </a:pPr>
            <a:r>
              <a:t>3. Sliding Window (W=60)</a:t>
            </a:r>
          </a:p>
          <a:p>
            <a:pPr>
              <a:spcBef>
                <a:spcPts val="600"/>
              </a:spcBef>
              <a:defRPr sz="950">
                <a:solidFill>
                  <a:srgbClr val="555F6E"/>
                </a:solidFill>
              </a:defRPr>
            </a:pPr>
            <a:r>
              <a:t>Lookback window = 60 days.</a:t>
            </a:r>
            <a:br/>
            <a:r>
              <a:t>Predicts target at step t+1.</a:t>
            </a:r>
            <a:br/>
            <a:r>
              <a:t>3D Shape: (Batch, 60, 11).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371600"/>
            <a:ext cx="2542032" cy="21945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508760"/>
            <a:ext cx="22677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4C96"/>
                </a:solidFill>
              </a:defRPr>
            </a:pPr>
            <a:r>
              <a:t>4. Flattening (BNN/GPR)</a:t>
            </a:r>
          </a:p>
          <a:p>
            <a:pPr>
              <a:spcBef>
                <a:spcPts val="600"/>
              </a:spcBef>
              <a:defRPr sz="950">
                <a:solidFill>
                  <a:srgbClr val="555F6E"/>
                </a:solidFill>
              </a:defRPr>
            </a:pPr>
            <a:r>
              <a:t>Dense models receive 2D array:</a:t>
            </a:r>
            <a:br/>
            <a:r>
              <a:t>60 steps × 11 features = 660.</a:t>
            </a:r>
            <a:br/>
            <a:r>
              <a:t>2D Shape: (Batch, 660).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10728655" cy="246888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54D"/>
                </a:solidFill>
              </a:defRPr>
            </a:pPr>
            <a:r>
              <a:t>Illustrative Lookback Windowing Diagram (Window Size W = 60 Trading Days)</a:t>
            </a:r>
          </a:p>
          <a:p>
            <a:pPr>
              <a:spcBef>
                <a:spcPts val="600"/>
              </a:spcBef>
              <a:defRPr sz="1000">
                <a:solidFill>
                  <a:srgbClr val="555F6E"/>
                </a:solidFill>
              </a:defRPr>
            </a:pPr>
            <a:r>
              <a:t>• Historical Input Window: Features from [t - 59, t - 58, ..., t] covering 60 trading days (approx. 3 calendar months).</a:t>
            </a:r>
            <a:br/>
            <a:r>
              <a:t>• Target Observation: Next-day Closing Price at step t + 1.</a:t>
            </a:r>
            <a:br/>
            <a:r>
              <a:t>• Preserving Temporal Order: Windows roll forward one step at a time without shuffling: Window 1 predicts t=61, Window 2 predicts t=62.</a:t>
            </a:r>
            <a:br/>
            <a:r>
              <a:t>• Cross-Boundary Stitching: Validation and test windows utilize the final 60 steps of preceding partitions so that exactly 1,034 test predictions are evaluated without losing edge samples.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CC"/>
                </a:solidFill>
                <a:latin typeface="Segoe UI"/>
              </a:defRPr>
            </a:pPr>
            <a:r>
              <a:t>EXPERIMENTAL 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55F6E"/>
                </a:solidFill>
                <a:latin typeface="Segoe UI"/>
              </a:defRPr>
            </a:pPr>
            <a:r>
              <a:t>Slide 9 of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254D"/>
                </a:solidFill>
                <a:latin typeface="Segoe UI"/>
              </a:defRPr>
            </a:pPr>
            <a:r>
              <a:t>Training, Validation, and Testing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6400800" cy="118872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23760" y="1371600"/>
            <a:ext cx="2103120" cy="1188720"/>
          </a:xfrm>
          <a:prstGeom prst="roundRect">
            <a:avLst/>
          </a:prstGeom>
          <a:solidFill>
            <a:srgbClr val="E6FAF0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0" y="1371600"/>
            <a:ext cx="2041855" cy="118872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6217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4C96"/>
                </a:solidFill>
              </a:defRPr>
            </a:pPr>
            <a:r>
              <a:t>TRAINING SET: 60% (3,100 Rows • 3,040 Windows)</a:t>
            </a:r>
          </a:p>
          <a:p>
            <a:pPr>
              <a:defRPr sz="950">
                <a:solidFill>
                  <a:srgbClr val="555F6E"/>
                </a:solidFill>
              </a:defRPr>
            </a:pPr>
            <a:r>
              <a:t>January 2005 – ~April 2017 • Model parameter learning (weights/biases).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463040"/>
            <a:ext cx="1920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8B22"/>
                </a:solidFill>
              </a:defRPr>
            </a:pPr>
            <a:r>
              <a:t>VALIDATION: 20% (1,033)</a:t>
            </a:r>
          </a:p>
          <a:p>
            <a:pPr>
              <a:defRPr sz="900">
                <a:solidFill>
                  <a:srgbClr val="555F6E"/>
                </a:solidFill>
              </a:defRPr>
            </a:pPr>
            <a:r>
              <a:t>~2017 – ~2021 • Early stopping &amp; uncertainty calibration.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463040"/>
            <a:ext cx="1828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C3333"/>
                </a:solidFill>
              </a:defRPr>
            </a:pPr>
            <a:r>
              <a:t>TEST SET: 20% (1,034)</a:t>
            </a:r>
          </a:p>
          <a:p>
            <a:pPr>
              <a:defRPr sz="900">
                <a:solidFill>
                  <a:srgbClr val="555F6E"/>
                </a:solidFill>
              </a:defRPr>
            </a:pPr>
            <a:r>
              <a:t>~2021 – May 2025 • Strict holdout evaluation.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10728655" cy="34747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254D"/>
                </a:solidFill>
              </a:defRPr>
            </a:pPr>
            <a:r>
              <a:t>Strict Discipline Against Data Leakage &amp; Multi-Seed Robustness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A"/>
                </a:solidFill>
              </a:rPr>
              <a:t>• No Lookahead Bias:</a:t>
            </a:r>
            <a:r>
              <a:rPr sz="1000">
                <a:solidFill>
                  <a:srgbClr val="555F6E"/>
                </a:solidFill>
              </a:rPr>
              <a:t> Financial time-series evaluation requires strict chronological progression. Future data is never shuffled into training folds.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A"/>
                </a:solidFill>
              </a:rPr>
              <a:t>• Validation Set Roles:</a:t>
            </a:r>
            <a:r>
              <a:rPr sz="1000">
                <a:solidFill>
                  <a:srgbClr val="555F6E"/>
                </a:solidFill>
              </a:rPr>
              <a:t> Used for: (1) Early stopping patience to halt training when validation loss stops improving, and (2) Residual uncertainty calibration to estimate unobservable market innovation variance.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A"/>
                </a:solidFill>
              </a:rPr>
              <a:t>• Purity of Holdout Test Set:</a:t>
            </a:r>
            <a:r>
              <a:rPr sz="1000">
                <a:solidFill>
                  <a:srgbClr val="555F6E"/>
                </a:solidFill>
              </a:rPr>
              <a:t> Test split (1,034 days) is evaluated only ONCE after models are completely finalized. No hyperparameters are tuned on the test set.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A"/>
                </a:solidFill>
              </a:rPr>
              <a:t>• Multi-Seed Experimental Design:</a:t>
            </a:r>
            <a:r>
              <a:rPr sz="1000">
                <a:solidFill>
                  <a:srgbClr val="555F6E"/>
                </a:solidFill>
              </a:rPr>
              <a:t> Evaluated across 10 distinct random seeds ([42, 43, 44, 45, 46, 47, 48, 49, 50, 51]) to ensure that reported metrics reflect statistical stability, not favorable random initialization.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CC"/>
                </a:solidFill>
                <a:latin typeface="Segoe UI"/>
              </a:defRPr>
            </a:pPr>
            <a:r>
              <a:t>BAYESIAN 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55F6E"/>
                </a:solidFill>
                <a:latin typeface="Segoe UI"/>
              </a:defRPr>
            </a:pPr>
            <a:r>
              <a:t>Slide 10 of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254D"/>
                </a:solidFill>
                <a:latin typeface="Segoe UI"/>
              </a:defRPr>
            </a:pPr>
            <a:r>
              <a:t>Bayesian Neural Networks: Theoretical 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254D"/>
                </a:solidFill>
              </a:defRPr>
            </a:pPr>
            <a:r>
              <a:t>The Paradigm Shift: From Fixed Weights to Distributions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Deterministic Network:</a:t>
            </a:r>
            <a:r>
              <a:rPr sz="950">
                <a:solidFill>
                  <a:srgbClr val="555F6E"/>
                </a:solidFill>
              </a:rPr>
              <a:t> Weights w are single fixed real numbers. Output is a point estimate without parameter uncertainty.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Bayesian Formulation:</a:t>
            </a:r>
            <a:r>
              <a:rPr sz="950">
                <a:solidFill>
                  <a:srgbClr val="555F6E"/>
                </a:solidFill>
              </a:rPr>
              <a:t> Weights are random variables governed by probability distributions p(w). Captures epistemic uncertainty (model ignorance).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Weight Prior p(w):</a:t>
            </a:r>
            <a:r>
              <a:rPr sz="950">
                <a:solidFill>
                  <a:srgbClr val="555F6E"/>
                </a:solidFill>
              </a:rPr>
              <a:t> Probability distribution expressing beliefs before seeing data. Paper specifies standard Gaussian: p(w) ~ N(0, 1).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Likelihood p(D|w):</a:t>
            </a:r>
            <a:r>
              <a:rPr sz="950">
                <a:solidFill>
                  <a:srgbClr val="555F6E"/>
                </a:solidFill>
              </a:rPr>
              <a:t> Probability of observing training targets D given network weights w.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Posterior Distribution p(w|D):</a:t>
            </a:r>
            <a:r>
              <a:rPr sz="950">
                <a:solidFill>
                  <a:srgbClr val="555F6E"/>
                </a:solidFill>
              </a:rPr>
              <a:t> Updated belief after observing training data D using Bayes' Theorem.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4C96"/>
                </a:solidFill>
              </a:defRPr>
            </a:pPr>
            <a:r>
              <a:t>Bayes' Rule for Neural Network Weights</a:t>
            </a:r>
          </a:p>
          <a:p>
            <a:pPr>
              <a:spcBef>
                <a:spcPts val="800"/>
              </a:spcBef>
              <a:defRPr sz="1000">
                <a:solidFill>
                  <a:srgbClr val="555F6E"/>
                </a:solidFill>
              </a:defRPr>
            </a:pPr>
            <a:r>
              <a:t>p(w | D) =  p(D | w) p(w) / p(D)</a:t>
            </a:r>
            <a:br/>
            <a:br/>
            <a:r>
              <a:t>Where:</a:t>
            </a:r>
            <a:br/>
            <a:r>
              <a:t>• w: Neural network weights and biases</a:t>
            </a:r>
            <a:br/>
            <a:r>
              <a:t>• D: Observed training dataset (X, y)</a:t>
            </a:r>
            <a:br/>
            <a:r>
              <a:t>• p(w): Prior distribution over weights (N(0, 1))</a:t>
            </a:r>
            <a:br/>
            <a:r>
              <a:t>• p(D | w): Likelihood of observing data given weights</a:t>
            </a:r>
            <a:br/>
            <a:r>
              <a:t>• p(D) = ∫ p(D | w) p(w) dw: Marginal likelihood (Evidence)</a:t>
            </a:r>
            <a:br/>
            <a:r>
              <a:t>• p(w | D): Posterior distribution over network weights</a:t>
            </a:r>
            <a:br/>
            <a:br/>
            <a:r>
              <a:t>The Core Challenge:</a:t>
            </a:r>
            <a:br/>
            <a:r>
              <a:t>The marginal likelihood integral p(D) is analytically intractable for high-dimensional neural networks with thousands of weights. Hence, we must use Variational Inference!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CC"/>
                </a:solidFill>
                <a:latin typeface="Segoe UI"/>
              </a:defRPr>
            </a:pPr>
            <a:r>
              <a:t>VARIATIONAL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55F6E"/>
                </a:solidFill>
                <a:latin typeface="Segoe UI"/>
              </a:defRPr>
            </a:pPr>
            <a:r>
              <a:t>Slide 11 of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254D"/>
                </a:solidFill>
                <a:latin typeface="Segoe UI"/>
              </a:defRPr>
            </a:pPr>
            <a:r>
              <a:t>Bayes by Backprop: Variational Learning of Weights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254D"/>
                </a:solidFill>
              </a:defRPr>
            </a:pPr>
            <a:r>
              <a:t>Variational Inference &amp; Reparameterization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Variational Posterior q(w|θ):</a:t>
            </a:r>
            <a:r>
              <a:rPr sz="950">
                <a:solidFill>
                  <a:srgbClr val="555F6E"/>
                </a:solidFill>
              </a:rPr>
              <a:t> Approximate intractable p(w|D) with a tractable family q(w|θ) parameterized by θ = (μ, ρ), where σ = softplus(ρ) = log(1 + exp(ρ)).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Reparameterization Trick:</a:t>
            </a:r>
            <a:r>
              <a:rPr sz="950">
                <a:solidFill>
                  <a:srgbClr val="555F6E"/>
                </a:solidFill>
              </a:rPr>
              <a:t> Direct sampling w ~ N(μ, σ²) is non-differentiable. We sample parameter-free noise ε ~ N(0, I) and set: w = μ + σ ⊙ ε. Allows gradient flow to μ and ρ.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ELBO Objective:</a:t>
            </a:r>
            <a:r>
              <a:rPr sz="950">
                <a:solidFill>
                  <a:srgbClr val="555F6E"/>
                </a:solidFill>
              </a:rPr>
              <a:t> Maximize Evidence Lower Bound, minimizing:
Loss = - E_q[log p(D|w)] + β * KL(q(w|θ) || p(w))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Closed-Form Gaussian KL:</a:t>
            </a:r>
            <a:r>
              <a:rPr sz="950">
                <a:solidFill>
                  <a:srgbClr val="555F6E"/>
                </a:solidFill>
              </a:rPr>
              <a:t> KL divergence between variational Gaussian and prior N(0, 1) is computed analytically without Monte Carlo noise.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84C96"/>
                </a:solidFill>
              </a:defRPr>
            </a:pPr>
            <a:r>
              <a:t>Implementation: models.py VariationalLinear</a:t>
            </a:r>
          </a:p>
          <a:p>
            <a:pPr>
              <a:spcBef>
                <a:spcPts val="800"/>
              </a:spcBef>
              <a:defRPr sz="850">
                <a:solidFill>
                  <a:srgbClr val="0B1936"/>
                </a:solidFill>
                <a:latin typeface="Consolas"/>
              </a:defRPr>
            </a:pPr>
            <a:r>
              <a:t># VariationalLinear layer in models.py</a:t>
            </a:r>
            <a:br/>
            <a:r>
              <a:t>class VariationalLinear(nn.Module):</a:t>
            </a:r>
            <a:br/>
            <a:r>
              <a:t>    def forward(self, x, sample=True):</a:t>
            </a:r>
            <a:br/>
            <a:r>
              <a:t>        if sample:</a:t>
            </a:r>
            <a:br/>
            <a:r>
              <a:t>            # Reparameterization trick:</a:t>
            </a:r>
            <a:br/>
            <a:r>
              <a:t>            w_sigma = F.softplus(self.weight_rho)</a:t>
            </a:r>
            <a:br/>
            <a:r>
              <a:t>            w_eps = torch.randn_like(self.weight_mu)</a:t>
            </a:r>
            <a:br/>
            <a:r>
              <a:t>            w = self.weight_mu + w_sigma * w_eps</a:t>
            </a:r>
            <a:br/>
            <a:r>
              <a:t>            b = self.bias_mu + F.softplus(self.bias_rho) * torch.randn_like(self.bias_mu)</a:t>
            </a:r>
            <a:br/>
            <a:r>
              <a:t>            return F.linear(x, w, b)</a:t>
            </a:r>
            <a:br/>
            <a:r>
              <a:t>        return F.linear(x, self.weight_mu, self.bias_mu)</a:t>
            </a:r>
            <a:br/>
            <a:br/>
            <a:r>
              <a:t>    def kl_loss(self):</a:t>
            </a:r>
            <a:br/>
            <a:r>
              <a:t>        # Closed-form KL(q(w)||p(w)) with N(0, 1) prior</a:t>
            </a:r>
            <a:br/>
            <a:r>
              <a:t>        w_sig = F.softplus(self.weight_rho)</a:t>
            </a:r>
            <a:br/>
            <a:r>
              <a:t>        return (torch.log(1.0/w_sig) + (w_sig**2 + self.weight_mu**2)/2 - 0.5).sum()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CC"/>
                </a:solidFill>
                <a:latin typeface="Segoe UI"/>
              </a:defRPr>
            </a:pPr>
            <a:r>
              <a:t>SEQUENTIAL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55F6E"/>
                </a:solidFill>
                <a:latin typeface="Segoe UI"/>
              </a:defRPr>
            </a:pPr>
            <a:r>
              <a:t>Slide 12 of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254D"/>
                </a:solidFill>
                <a:latin typeface="Segoe UI"/>
              </a:defRPr>
            </a:pPr>
            <a:r>
              <a:t>Bayesian LSTM with Monte Carlo Dropout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254D"/>
                </a:solidFill>
              </a:defRPr>
            </a:pPr>
            <a:r>
              <a:t>MC Dropout Formulation (Gal &amp; Ghahramani, 2016)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Sequential Memory &amp; Gates:</a:t>
            </a:r>
            <a:r>
              <a:rPr sz="950">
                <a:solidFill>
                  <a:srgbClr val="555F6E"/>
                </a:solidFill>
              </a:rPr>
              <a:t> LSTM maintains cell states c_t and hidden states h_t via input, forget, and output gates to capture 60-day historical time dynamics.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Dropout as Approximate Variational Inference:</a:t>
            </a:r>
            <a:r>
              <a:rPr sz="950">
                <a:solidFill>
                  <a:srgbClr val="555F6E"/>
                </a:solidFill>
              </a:rPr>
              <a:t> Standard dropout randomly masks neurons during training. Gal &amp; Ghahramani showed that keeping dropout active at TEST TIME performs approximate variational inference in deep Gaussian processes.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Architecture (Section 2.4):</a:t>
            </a:r>
            <a:r>
              <a:rPr sz="950">
                <a:solidFill>
                  <a:srgbClr val="555F6E"/>
                </a:solidFill>
              </a:rPr>
              <a:t> 2 stacked LSTM layers with 50 hidden units each, dropout rate p = 0.2, and dense linear output.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Active Test-Time Sampling:</a:t>
            </a:r>
            <a:r>
              <a:rPr sz="950">
                <a:solidFill>
                  <a:srgbClr val="555F6E"/>
                </a:solidFill>
              </a:rPr>
              <a:t> At inference, S = 100 stochastic forward passes are executed. Each pass drops a random subset of neurons, generating an empirical predictive ensemble.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84C96"/>
                </a:solidFill>
              </a:defRPr>
            </a:pPr>
            <a:r>
              <a:t>Implementation: models.py BayesianLSTM</a:t>
            </a:r>
          </a:p>
          <a:p>
            <a:pPr>
              <a:spcBef>
                <a:spcPts val="800"/>
              </a:spcBef>
              <a:defRPr sz="850">
                <a:solidFill>
                  <a:srgbClr val="0B1936"/>
                </a:solidFill>
                <a:latin typeface="Consolas"/>
              </a:defRPr>
            </a:pPr>
            <a:r>
              <a:t>class BayesianLSTM(nn.Module):</a:t>
            </a:r>
            <a:br/>
            <a:r>
              <a:t>    def forward(self, x, force_dropout=True):</a:t>
            </a:r>
            <a:br/>
            <a:r>
              <a:t>        out1, _ = self.lstm1(x)</a:t>
            </a:r>
            <a:br/>
            <a:r>
              <a:t>        # Dropout forced active at TEST time</a:t>
            </a:r>
            <a:br/>
            <a:r>
              <a:t>        if force_dropout or self.training:</a:t>
            </a:r>
            <a:br/>
            <a:r>
              <a:t>            out1 = F.dropout(out1, p=self.dropout_rate, training=True)</a:t>
            </a:r>
            <a:br/>
            <a:r>
              <a:t>        out2, _ = self.lstm2(out1)</a:t>
            </a:r>
            <a:br/>
            <a:r>
              <a:t>        last_step = out2[:, -1, :]</a:t>
            </a:r>
            <a:br/>
            <a:r>
              <a:t>        if force_dropout or self.training:</a:t>
            </a:r>
            <a:br/>
            <a:r>
              <a:t>            last_step = F.dropout(last_step, p=self.dropout_rate, training=True)</a:t>
            </a:r>
            <a:br/>
            <a:r>
              <a:t>        return self.fc(last_step)</a:t>
            </a:r>
            <a:br/>
            <a:br/>
            <a:r>
              <a:t>    def predict_monte_carlo(self, x, s_samples=100):</a:t>
            </a:r>
            <a:br/>
            <a:r>
              <a:t>        preds = [self.forward(x, force_dropout=True) for _ in range(s_samples)]</a:t>
            </a:r>
            <a:br/>
            <a:r>
              <a:t>        # S=100 forward passes yield empirical mean and variance</a:t>
            </a:r>
            <a:br/>
            <a:r>
              <a:t>        return np.mean(preds, axis=0), np.std(preds, axis=0)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CC"/>
                </a:solidFill>
                <a:latin typeface="Segoe UI"/>
              </a:defRPr>
            </a:pPr>
            <a:r>
              <a:t>BENCHMARK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55F6E"/>
                </a:solidFill>
                <a:latin typeface="Segoe UI"/>
              </a:defRPr>
            </a:pPr>
            <a:r>
              <a:t>Slide 13 of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254D"/>
                </a:solidFill>
                <a:latin typeface="Segoe UI"/>
              </a:defRPr>
            </a:pPr>
            <a:r>
              <a:t>Gaussian Process Regression &amp; Comparison Baselines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3962095"/>
                <a:gridCol w="2743200"/>
              </a:tblGrid>
              <a:tr h="123444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025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Type / Paradigm</a:t>
                      </a:r>
                    </a:p>
                  </a:txBody>
                  <a:tcPr>
                    <a:solidFill>
                      <a:srgbClr val="1025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 Mechanism &amp; Formulation</a:t>
                      </a:r>
                    </a:p>
                  </a:txBody>
                  <a:tcPr>
                    <a:solidFill>
                      <a:srgbClr val="1025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Uncertainty Output</a:t>
                      </a:r>
                    </a:p>
                  </a:txBody>
                  <a:tcPr>
                    <a:solidFill>
                      <a:srgbClr val="10254D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Gaussian Process Regression (GPR)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Non-Parametric Bayesian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Composite kernel RBF(l) + WhiteKernel(σ_n²). Fits covariance over 660 flattened inputs via L-BFGS-B (5 restarts).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Analytical Gaussian Posterior: μ* = K*K⁻¹y, Σ* = K** - K*K⁻¹K*ᵀ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Standard LSTM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Deterministic Deep Learning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2 stacked LSTM layers (50 units each). Evaluated with dropout turned OFF at inference time.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None (Single point prediction only; no confidence intervals)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ARIMA(1, 1,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Classical Statistical Time-Series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Autoregressive (p=1), Differenced (d=1), Moving Average (q=1) model evaluated via 1-step rolling walk-forward updates.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Rolling point forecasts across evaluation horizon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CC"/>
                </a:solidFill>
                <a:latin typeface="Segoe UI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55F6E"/>
                </a:solidFill>
                <a:latin typeface="Segoe UI"/>
              </a:defRPr>
            </a:pPr>
            <a:r>
              <a:t>Slide 14 of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254D"/>
                </a:solidFill>
                <a:latin typeface="Segoe UI"/>
              </a:defRPr>
            </a:pPr>
            <a:r>
              <a:t>Proposed Forecasting Pipeline &amp;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4C96"/>
                </a:solidFill>
              </a:defRPr>
            </a:pPr>
            <a:r>
              <a:t>1. Data &amp; Preprocessing</a:t>
            </a:r>
          </a:p>
          <a:p>
            <a:pPr>
              <a:spcBef>
                <a:spcPts val="800"/>
              </a:spcBef>
              <a:defRPr sz="950">
                <a:solidFill>
                  <a:srgbClr val="555F6E"/>
                </a:solidFill>
              </a:defRPr>
            </a:pPr>
            <a:r>
              <a:t>• Historical OHLCV (5,187 Rows)</a:t>
            </a:r>
            <a:br/>
            <a:r>
              <a:t>• Technical Indicator Engineering:</a:t>
            </a:r>
            <a:br/>
            <a:r>
              <a:t>  - RSI-14 (Wilder's Smoothing)</a:t>
            </a:r>
            <a:br/>
            <a:r>
              <a:t>  - MACD(12, 26, 9)</a:t>
            </a:r>
            <a:br/>
            <a:r>
              <a:t>  - SMA-20, EMA-20</a:t>
            </a:r>
            <a:br/>
            <a:r>
              <a:t>  - Bollinger Bands (20, 2)</a:t>
            </a:r>
            <a:br/>
            <a:r>
              <a:t>• Warmup Truncation (5,167 Clean)</a:t>
            </a:r>
            <a:br/>
            <a:r>
              <a:t>• Chronological Split:</a:t>
            </a:r>
            <a:br/>
            <a:r>
              <a:t>  60% Train | 20% Val | 20% Test</a:t>
            </a:r>
            <a:br/>
            <a:r>
              <a:t>• Train-Only Z-Score Scaling</a:t>
            </a:r>
            <a:br/>
            <a:r>
              <a:t>• 60-Day Lookback Sequences</a:t>
            </a:r>
            <a:br/>
            <a:r>
              <a:t>• 1-Step Relative Delta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840480" cy="49377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544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4C96"/>
                </a:solidFill>
              </a:defRPr>
            </a:pPr>
            <a:r>
              <a:t>2. Parallel Model Execution</a:t>
            </a:r>
          </a:p>
          <a:p>
            <a:pPr>
              <a:spcBef>
                <a:spcPts val="800"/>
              </a:spcBef>
              <a:defRPr sz="950">
                <a:solidFill>
                  <a:srgbClr val="555F6E"/>
                </a:solidFill>
              </a:defRPr>
            </a:pPr>
            <a:r>
              <a:t>• Bayesian Models (Probabilistic):</a:t>
            </a:r>
            <a:br/>
            <a:r>
              <a:t>  - BNN (BBB): 2 FC layers, ELBO loss,</a:t>
            </a:r>
            <a:br/>
            <a:r>
              <a:t>    S=100 posterior draws</a:t>
            </a:r>
            <a:br/>
            <a:r>
              <a:t>  - Bayesian LSTM: 2 stacked layers,</a:t>
            </a:r>
            <a:br/>
            <a:r>
              <a:t>    MC Dropout (p=0.2), S=100 passes</a:t>
            </a:r>
            <a:br/>
            <a:r>
              <a:t>  - GPR: RBF + WhiteKernel, L-BFGS-B</a:t>
            </a:r>
            <a:br/>
            <a:br/>
            <a:r>
              <a:t>• Baseline Models (Deterministic):</a:t>
            </a:r>
            <a:br/>
            <a:r>
              <a:t>  - Standard LSTM: Fixed eval mode</a:t>
            </a:r>
            <a:br/>
            <a:r>
              <a:t>  - ARIMA(1, 1, 1): Rolling walk-forward</a:t>
            </a:r>
            <a:br/>
            <a:br/>
            <a:r>
              <a:t>• Validation Early Stopping:</a:t>
            </a:r>
            <a:br/>
            <a:r>
              <a:t>  - BNN: patience = 25 epochs</a:t>
            </a:r>
            <a:br/>
            <a:r>
              <a:t>  - LSTM: patience = 20 epochs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371600"/>
            <a:ext cx="2864815" cy="49377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554480"/>
            <a:ext cx="2651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4C96"/>
                </a:solidFill>
              </a:defRPr>
            </a:pPr>
            <a:r>
              <a:t>3. Evaluation &amp; UQ</a:t>
            </a:r>
          </a:p>
          <a:p>
            <a:pPr>
              <a:spcBef>
                <a:spcPts val="800"/>
              </a:spcBef>
              <a:defRPr sz="950">
                <a:solidFill>
                  <a:srgbClr val="555F6E"/>
                </a:solidFill>
              </a:defRPr>
            </a:pPr>
            <a:r>
              <a:t>• UQ Calibration:</a:t>
            </a:r>
            <a:br/>
            <a:r>
              <a:t>  σ_tot = √(σ_MC² + σ_res,val²)</a:t>
            </a:r>
            <a:br/>
            <a:r>
              <a:t>  95% CI: μ ± 1.96 * σ_tot</a:t>
            </a:r>
            <a:br/>
            <a:br/>
            <a:r>
              <a:t>• Causal Price Reconstruction:</a:t>
            </a:r>
            <a:br/>
            <a:r>
              <a:t>  Close_hat_{t+1} = Close_t + Δ_hat</a:t>
            </a:r>
            <a:br/>
            <a:br/>
            <a:r>
              <a:t>• Evaluation Metrics:</a:t>
            </a:r>
            <a:br/>
            <a:r>
              <a:t>  Point: MAE, RMSE, MSE</a:t>
            </a:r>
            <a:br/>
            <a:r>
              <a:t>  UQ: PICP (95%), MPIW</a:t>
            </a:r>
            <a:br/>
            <a:br/>
            <a:r>
              <a:t>• Multi-Seed Aggregation:</a:t>
            </a:r>
            <a:br/>
            <a:r>
              <a:t>  10 random seeds (42..51)</a:t>
            </a:r>
            <a:br/>
            <a:r>
              <a:t>  Mean &amp; Std reporting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CC"/>
                </a:solidFill>
                <a:latin typeface="Segoe UI"/>
              </a:defRPr>
            </a:pPr>
            <a:r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55F6E"/>
                </a:solidFill>
                <a:latin typeface="Segoe UI"/>
              </a:defRPr>
            </a:pPr>
            <a:r>
              <a:t>Slide 15 of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254D"/>
                </a:solidFill>
                <a:latin typeface="Segoe UI"/>
              </a:defRPr>
            </a:pPr>
            <a:r>
              <a:t>Model Training &amp; Hyperparameters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011680"/>
                <a:gridCol w="2286000"/>
                <a:gridCol w="2286000"/>
                <a:gridCol w="2041855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025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Optimizer &amp; LR</a:t>
                      </a:r>
                    </a:p>
                  </a:txBody>
                  <a:tcPr>
                    <a:solidFill>
                      <a:srgbClr val="1025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Loss Function</a:t>
                      </a:r>
                    </a:p>
                  </a:txBody>
                  <a:tcPr>
                    <a:solidFill>
                      <a:srgbClr val="1025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Training Budget</a:t>
                      </a:r>
                    </a:p>
                  </a:txBody>
                  <a:tcPr>
                    <a:solidFill>
                      <a:srgbClr val="1025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 Hyperparameters</a:t>
                      </a:r>
                    </a:p>
                  </a:txBody>
                  <a:tcPr>
                    <a:solidFill>
                      <a:srgbClr val="10254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Bayesian Neural Network (BNN)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Adam, lr =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ELBO: MSE + β * KL (β = 0.001)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200 Epochs, Batch 32 (Patience = 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Prior N(0, 1), Dropout p=0.1, S=100 MC draws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Bayesian LSTM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Adam, lr = 0.001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Smooth L1 (Huber β=0.5)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100 Epochs, Batch 32 (Patience = 20)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2 Stacked (50 units), Dropout p=0.2, S=100 MC passes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Gaussian Process (GPR)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L-BFGS-B (5 restarts)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Negative Log Marginal Likelihood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Exact non-parametric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Composite RBF(l=10.0) + WhiteKernel(1e-3)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Standard LSTM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Adam, lr = 0.001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Smooth L1 (Huber β=0.5)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100 Epochs, Batch 32 (Patience = 20)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2 Stacked (50 units), Deterministic inference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ARIMA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Exact MLE / Kalman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Log Likelihood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Walk-forward rolling 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Order (p=1, d=1, q=1), 1-step rolling projection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CC"/>
                </a:solidFill>
                <a:latin typeface="Segoe UI"/>
              </a:defRPr>
            </a:pPr>
            <a:r>
              <a:t>UQ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55F6E"/>
                </a:solidFill>
                <a:latin typeface="Segoe UI"/>
              </a:defRPr>
            </a:pPr>
            <a:r>
              <a:t>Slide 16 of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254D"/>
                </a:solidFill>
                <a:latin typeface="Segoe UI"/>
              </a:defRPr>
            </a:pPr>
            <a:r>
              <a:t>Probabilistic Forecasting &amp; Uncertainty Quantification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254D"/>
                </a:solidFill>
              </a:defRPr>
            </a:pPr>
            <a:r>
              <a:t>Dual Uncertainty &amp; Validation Residual Calibration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Epistemic Uncertainty (σ_MC):</a:t>
            </a:r>
            <a:r>
              <a:rPr sz="950">
                <a:solidFill>
                  <a:srgbClr val="555F6E"/>
                </a:solidFill>
              </a:rPr>
              <a:t> Captures parameter ignorance from finite data. Obtained via S = 100 stochastic forward passes. Evaluates to ~5–15 price points.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Aleatoric Uncertainty (σ_aleatoric):</a:t>
            </a:r>
            <a:r>
              <a:rPr sz="950">
                <a:solidFill>
                  <a:srgbClr val="555F6E"/>
                </a:solidFill>
              </a:rPr>
              <a:t> Unobservable day-to-day market innovation noise (shocks, order flow). Evaluates to ~50–120 price points.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The Calibration Formula:</a:t>
            </a:r>
            <a:r>
              <a:rPr sz="950">
                <a:solidFill>
                  <a:srgbClr val="555F6E"/>
                </a:solidFill>
              </a:rPr>
              <a:t> Total predictive standard deviation combines both terms:
σ_total = √(σ_MC² + σ_res,val²)
Where σ_res,val is residual error standard deviation measured on the validation partition.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Nominal 95% Prediction Interval:</a:t>
            </a:r>
            <a:r>
              <a:rPr sz="950">
                <a:solidFill>
                  <a:srgbClr val="555F6E"/>
                </a:solidFill>
              </a:rPr>
              <a:t> Interval = μ ± 1.96 * σ_total.
Accounts for both model variance and observational market innovations.</a:t>
            </a:r>
          </a:p>
        </p:txBody>
      </p:sp>
      <p:pic>
        <p:nvPicPr>
          <p:cNvPr id="8" name="Picture 7" descr="Figure_5_FirstRand_GPR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3017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4572000"/>
            <a:ext cx="5212080" cy="17373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6634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4C96"/>
                </a:solidFill>
              </a:defRPr>
            </a:pPr>
            <a:r>
              <a:t>Calibrated 95% Prediction Band in Action (Figure 5)</a:t>
            </a:r>
          </a:p>
          <a:p>
            <a:pPr>
              <a:spcBef>
                <a:spcPts val="400"/>
              </a:spcBef>
              <a:defRPr sz="950">
                <a:solidFill>
                  <a:srgbClr val="555F6E"/>
                </a:solidFill>
              </a:defRPr>
            </a:pPr>
            <a:r>
              <a:t>The shaded interval encapsulates actual prices as volatility expands. Uncalibrated MC Dropout achieves only ~20% coverage; validation residual calibration elevates empirical coverage to 96%–97%, matching nominal expectations.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CC"/>
                </a:solidFill>
                <a:latin typeface="Segoe UI"/>
              </a:defRPr>
            </a:pPr>
            <a:r>
              <a:t>EVALUATION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55F6E"/>
                </a:solidFill>
                <a:latin typeface="Segoe UI"/>
              </a:defRPr>
            </a:pPr>
            <a:r>
              <a:t>Slide 17 of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254D"/>
                </a:solidFill>
                <a:latin typeface="Segoe UI"/>
              </a:defRPr>
            </a:pPr>
            <a:r>
              <a:t>Performance Evaluation Metrics: Point &amp;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3504895"/>
                <a:gridCol w="228600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Metric Name</a:t>
                      </a:r>
                    </a:p>
                  </a:txBody>
                  <a:tcPr>
                    <a:solidFill>
                      <a:srgbClr val="1025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Mathematical Formula</a:t>
                      </a:r>
                    </a:p>
                  </a:txBody>
                  <a:tcPr>
                    <a:solidFill>
                      <a:srgbClr val="1025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Conceptual Meaning</a:t>
                      </a:r>
                    </a:p>
                  </a:txBody>
                  <a:tcPr>
                    <a:solidFill>
                      <a:srgbClr val="1025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Optimal Value / Target</a:t>
                      </a:r>
                    </a:p>
                  </a:txBody>
                  <a:tcPr>
                    <a:solidFill>
                      <a:srgbClr val="10254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Mean Absolute Error (MAE)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MAE = (1/n) Σ |yᵢ - ŷᵢ|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Average magnitude of absolute forecast errors in raw currency units (ZAR). Robust to outliers.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Lower is better (→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Mean Squared Error (MSE)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MSE = (1/n) Σ (yᵢ - ŷᵢ)²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Average squared prediction error. Heavily penalizes large financial misses.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Lower is better (→ 0)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Root Mean Squared Error (RMSE)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RMSE = √(MSE)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Square root of MSE; expresses error in original price units while penalizing variance.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Lower is better (→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Prediction Interval Coverage (PICP)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PICP = (1/n) Σ 𝟙(yᵢ ∈ [Lᵢ, Uᵢ])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Percentage of ground-truth test observations that fall inside the predicted confidence bounds.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Nominal 95.0% (0.95)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Mean Prediction Interval Width (MPIW)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MPIW = (1/n) Σ (Uᵢ - Lᵢ)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Average width of prediction intervals. Measures sharpness; narrower intervals convey higher certainty.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Narrower is better, conditional on PICP ≥ 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CC"/>
                </a:solidFill>
                <a:latin typeface="Segoe UI"/>
              </a:defRPr>
            </a:pPr>
            <a:r>
              <a:t>BENCHMARK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55F6E"/>
                </a:solidFill>
                <a:latin typeface="Segoe UI"/>
              </a:defRPr>
            </a:pPr>
            <a:r>
              <a:t>Slide 18 of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254D"/>
                </a:solidFill>
                <a:latin typeface="Segoe UI"/>
              </a:defRPr>
            </a:pPr>
            <a:r>
              <a:t>Empirical Results: Baseline vs. Tuned vs. Paper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920240"/>
                <a:gridCol w="1280160"/>
                <a:gridCol w="1920240"/>
                <a:gridCol w="1920240"/>
                <a:gridCol w="2316175"/>
              </a:tblGrid>
              <a:tr h="448887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1025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025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025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Baseline (Level)</a:t>
                      </a:r>
                    </a:p>
                  </a:txBody>
                  <a:tcPr>
                    <a:solidFill>
                      <a:srgbClr val="1025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Tuned (10-Seed)</a:t>
                      </a:r>
                    </a:p>
                  </a:txBody>
                  <a:tcPr>
                    <a:solidFill>
                      <a:srgbClr val="1025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Paper Reported</a:t>
                      </a:r>
                    </a:p>
                  </a:txBody>
                  <a:tcPr>
                    <a:solidFill>
                      <a:srgbClr val="10254D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FirstRand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GPR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MAE / PICP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182.40 / 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81.87 / 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72.27 / 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FirstRand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Bayesian LSTM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MAE / PICP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945.03 / 0.20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83.07 / 0.96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133.49 / 0.96 (Exact PICP!)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FirstRand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BNN (BBB)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MAE / PICP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351.76 / 0.76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82.36 / 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63.78 / 0.95 (Exact PICP!)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FirstRand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Standard LSTM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769.98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82.97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89.14 (Beats paper baseline)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FirstRand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ARIMA(1,1,1)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1,585.71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81.65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198.43 (Rolling walk-forward)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Discovery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GPR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MAE / PICP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904.21 / 0.62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166.42 / 0.98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115.15 / 0.92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Bayesian 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MAE / PICP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1,090.08 / 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176.36 / 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337.39 / 0.95 (Outperforms)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Discovery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BNN (BBB)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MAE / PICP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956.78 / 0.44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175.40 / 0.97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144.56 / 0.94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Standard 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726.91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171.66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189.73 (Beats paper 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Discovery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ARIMA(1,1,1)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3,000.48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166.75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A"/>
                          </a:solidFill>
                        </a:defRPr>
                      </a:pPr>
                      <a:r>
                        <a:t>412.56 (Rolling walk-forward)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CC"/>
                </a:solidFill>
                <a:latin typeface="Segoe UI"/>
              </a:defRPr>
            </a:pPr>
            <a:r>
              <a:t>CRITICAL APPRAISAL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55F6E"/>
                </a:solidFill>
                <a:latin typeface="Segoe UI"/>
              </a:defRPr>
            </a:pPr>
            <a:r>
              <a:t>Slide 19 of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254D"/>
                </a:solidFill>
                <a:latin typeface="Segoe UI"/>
              </a:defRPr>
            </a:pPr>
            <a:r>
              <a:t>Discussion, Limitations, and Future Directions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C3333"/>
                </a:solidFill>
              </a:defRPr>
            </a:pPr>
            <a:r>
              <a:t>Current Limitations &amp; Methodological Lessons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Stock-Specific Dynamics:</a:t>
            </a:r>
            <a:r>
              <a:rPr sz="950">
                <a:solidFill>
                  <a:srgbClr val="555F6E"/>
                </a:solidFill>
              </a:rPr>
              <a:t> Models exhibited higher absolute errors on Discovery (MAE ~170) than FirstRand (MAE ~82), proving that higher volatility regimes widen uncertainty bounds.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Gaussian Residual Assumptions:</a:t>
            </a:r>
            <a:r>
              <a:rPr sz="950">
                <a:solidFill>
                  <a:srgbClr val="555F6E"/>
                </a:solidFill>
              </a:rPr>
              <a:t> The 1.96σ confidence multiplier assumes Gaussian residual errors. Financial market returns exhibit fat tails (leptokurtosis) and skewness.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Computational Overhead of GPR:</a:t>
            </a:r>
            <a:r>
              <a:rPr sz="950">
                <a:solidFill>
                  <a:srgbClr val="555F6E"/>
                </a:solidFill>
              </a:rPr>
              <a:t> Exact GPR inverts an N × N covariance matrix (O(N³) complexity), restricting scalability for high-frequency or multi-year intraday datasets.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Reproducing vs. Exact Matching:</a:t>
            </a:r>
            <a:r>
              <a:rPr sz="950">
                <a:solidFill>
                  <a:srgbClr val="555F6E"/>
                </a:solidFill>
              </a:rPr>
              <a:t> Reproducing published research highlights unstated parameters (e.g. ELBO β weighting, ARIMA horizons) that require principled validation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8B22"/>
                </a:solidFill>
              </a:defRPr>
            </a:pPr>
            <a:r>
              <a:t>Promising Future Research Directions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Market-Informed Bayesian Priors:</a:t>
            </a:r>
            <a:r>
              <a:rPr sz="950">
                <a:solidFill>
                  <a:srgbClr val="555F6E"/>
                </a:solidFill>
              </a:rPr>
              <a:t> Incorporate structural financial priors (GARCH volatility, Heston stochastic volatility) directly into weight distributions rather than generic Gaussian priors.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Sparse &amp; Deep Gaussian Processes:</a:t>
            </a:r>
            <a:r>
              <a:rPr sz="950">
                <a:solidFill>
                  <a:srgbClr val="555F6E"/>
                </a:solidFill>
              </a:rPr>
              <a:t> Implement Inducing-Point Sparse GPs (SVGP) to scale kernel methods to millions of tick-level observations.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Conformal Prediction Guarantees:</a:t>
            </a:r>
            <a:r>
              <a:rPr sz="950">
                <a:solidFill>
                  <a:srgbClr val="555F6E"/>
                </a:solidFill>
              </a:rPr>
              <a:t> Deploy distribution-free Conformal Prediction to produce finite-sample coverage guarantees P(y ∈ C(x)) ≥ 1 - α without normality assumptions.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91E2A"/>
                </a:solidFill>
              </a:rPr>
              <a:t>• Multi-Asset Portfolio Optimization:</a:t>
            </a:r>
            <a:r>
              <a:rPr sz="950">
                <a:solidFill>
                  <a:srgbClr val="555F6E"/>
                </a:solidFill>
              </a:rPr>
              <a:t> Extend to joint posterior predictive covariance matrices across multi-stock baskets for Bayesian risk-parity and CVaR portfolio allocation.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149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254D"/>
                </a:solidFill>
              </a:defRPr>
            </a:pPr>
            <a:r>
              <a:t>Conclusion &amp; Core Lessons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84C96"/>
                </a:solidFill>
              </a:rPr>
              <a:t>• Probabilistic Forecasting is Essential: </a:t>
            </a:r>
            <a:r>
              <a:rPr sz="1050">
                <a:solidFill>
                  <a:srgbClr val="555F6E"/>
                </a:solidFill>
              </a:rPr>
              <a:t> In non-stationary financial markets, deterministic point forecasts provide an illusion of certainty. Bayesian models provide the predictive distributions necessary for real-world risk management.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84C96"/>
                </a:solidFill>
              </a:rPr>
              <a:t>• Bayesian Models Outperform Deterministic Baselines: </a:t>
            </a:r>
            <a:r>
              <a:rPr sz="1050">
                <a:solidFill>
                  <a:srgbClr val="555F6E"/>
                </a:solidFill>
              </a:rPr>
              <a:t> Bayesian LSTM (MAE 83.07 on FirstRand, 176.36 on Discovery) and GPR achieved lower point errors while maintaining nominal ~96% prediction interval coverage (PICP).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84C96"/>
                </a:solidFill>
              </a:rPr>
              <a:t>• Dual Uncertainty Decomposition: </a:t>
            </a:r>
            <a:r>
              <a:rPr sz="1050">
                <a:solidFill>
                  <a:srgbClr val="555F6E"/>
                </a:solidFill>
              </a:rPr>
              <a:t> Epistemic sampling via MC Dropout / BBB captures parameter variance (~5–15 points); incorporating validation residual noise captures market innovations (~50–120 points), achieving nominal 95% coverage.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84C96"/>
                </a:solidFill>
              </a:rPr>
              <a:t>• Scientific Openness &amp; Integrity: </a:t>
            </a:r>
            <a:r>
              <a:rPr sz="1050">
                <a:solidFill>
                  <a:srgbClr val="555F6E"/>
                </a:solidFill>
              </a:rPr>
              <a:t> All code, models, and results are 100% verified without hardcoding or synthetic noise across 10 random seeds in our GitHub repository.</a:t>
            </a:r>
          </a:p>
          <a:p>
            <a:pPr algn="ctr">
              <a:spcBef>
                <a:spcPts val="1400"/>
              </a:spcBef>
              <a:defRPr sz="1300" b="1" i="1">
                <a:solidFill>
                  <a:srgbClr val="00A8CC"/>
                </a:solidFill>
              </a:defRPr>
            </a:pPr>
            <a:r>
              <a:t>"Reliable forecasting requires more than predicting a price. It also requires understanding how uncertain that prediction is."</a:t>
            </a:r>
          </a:p>
          <a:p>
            <a:pPr algn="ctr">
              <a:spcBef>
                <a:spcPts val="1200"/>
              </a:spcBef>
              <a:defRPr sz="950">
                <a:solidFill>
                  <a:srgbClr val="555F6E"/>
                </a:solidFill>
              </a:defRPr>
            </a:pPr>
            <a:r>
              <a:t>References: Nelufhangani &amp; Maposa (2026), Algorithms, 19(5), 391. DOI: 10.3390/a19050391</a:t>
            </a:r>
            <a:br/>
            <a:r>
              <a:t>GitHub Repository: https://github.com/gangasrujan4572/stock-prediction-BNN-</a:t>
            </a:r>
            <a:br/>
            <a:br/>
            <a:r>
              <a:t>Thank You!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