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3891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D6"/>
                </a:solidFill>
                <a:latin typeface="Segoe UI"/>
              </a:defRPr>
            </a:pPr>
            <a:r>
              <a:t>RESEARCH REPRODUCTION &amp; METHODOLOGY DEFENSE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Bayesian Deep Learning &amp; Probabilistic</a:t>
            </a:r>
            <a:br/>
            <a:r>
              <a:t>Forecasting of Stock Prices</a:t>
            </a:r>
          </a:p>
          <a:p>
            <a:pPr>
              <a:defRPr sz="1400">
                <a:solidFill>
                  <a:srgbClr val="C8D7EB"/>
                </a:solidFill>
                <a:latin typeface="Segoe UI"/>
              </a:defRPr>
            </a:pPr>
            <a:r>
              <a:t>Comprehensive Implementation, Uncertainty Quantification (UQ), and Out-of-Distribution Calibration</a:t>
            </a:r>
          </a:p>
          <a:p>
            <a:pPr>
              <a:spcBef>
                <a:spcPts val="2400"/>
              </a:spcBef>
              <a:defRPr sz="1100">
                <a:solidFill>
                  <a:srgbClr val="A0B4D2"/>
                </a:solidFill>
                <a:latin typeface="Segoe UI"/>
              </a:defRPr>
            </a:pPr>
            <a:r>
              <a:t>Reference Paper: Nelufhangani, N., &amp; Maposa, D. (2026). Algorithms (MDPI), 19(5), 391.</a:t>
            </a:r>
            <a:br/>
            <a:r>
              <a:t>Equities: FirstRand Limited (FSR.JO) &amp; Discovery Limited (DSY.JO) • Study Span: 2005 – 2025 (5,187 Days)</a:t>
            </a:r>
            <a:br/>
            <a:r>
              <a:t>Models: BNN (Bayes by Backprop), Bayesian LSTM (MC Dropout), GPR (RBF+White), Standard LSTM, ARIMA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1. Research Motivation &amp; The Bayesian Imperative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5AA8"/>
                </a:solidFill>
              </a:defRPr>
            </a:pPr>
            <a:r>
              <a:t>The Deterministic Deep Learning Bottleneck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Single Point Predictions:</a:t>
            </a:r>
            <a:r>
              <a:rPr sz="1100">
                <a:solidFill>
                  <a:srgbClr val="5A6473"/>
                </a:solidFill>
              </a:rPr>
              <a:t> Standard MLPs and LSTMs output fixed numbers (y_hat) without confidence metrics, obscuring high-risk vs. low-risk market states.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Silent Overconfidence:</a:t>
            </a:r>
            <a:r>
              <a:rPr sz="1100">
                <a:solidFill>
                  <a:srgbClr val="5A6473"/>
                </a:solidFill>
              </a:rPr>
              <a:t> Under structural regime shifts or high volatility, standard models produce arbitrarily wrong forecasts with 100% false certainty.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Zero Downside Risk Awareness:</a:t>
            </a:r>
            <a:r>
              <a:rPr sz="1100">
                <a:solidFill>
                  <a:srgbClr val="5A6473"/>
                </a:solidFill>
              </a:rPr>
              <a:t> Real-world quantitative trading, risk management (VaR), and capital allocation require predictive distribution intervals, not mere points.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Vulnerability to Non-Stationarity:</a:t>
            </a:r>
            <a:r>
              <a:rPr sz="1100">
                <a:solidFill>
                  <a:srgbClr val="5A6473"/>
                </a:solidFill>
              </a:rPr>
              <a:t> Stock markets exhibit severe distribution shifts, structural breaks, and heavy-tailed volatility clustering.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5AA8"/>
                </a:solidFill>
              </a:defRPr>
            </a:pPr>
            <a:r>
              <a:t>The Bayesian Solution &amp; Core Objectives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Posterior Probability Distributions:</a:t>
            </a:r>
            <a:r>
              <a:rPr sz="1100">
                <a:solidFill>
                  <a:srgbClr val="5A6473"/>
                </a:solidFill>
              </a:rPr>
              <a:t> Instead of deterministic weights, Bayesian models learn distributions p(W|D), yielding predictive densities p(y*|x*, D).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Dual Uncertainty Decomposition:</a:t>
            </a:r>
            <a:r>
              <a:rPr sz="1100">
                <a:solidFill>
                  <a:srgbClr val="5A6473"/>
                </a:solidFill>
              </a:rPr>
              <a:t> Separates Epistemic uncertainty (model parameter lack of knowledge) from Aleatoric uncertainty (stochastic market noise).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Calibrated Confidence Bounds:</a:t>
            </a:r>
            <a:r>
              <a:rPr sz="1100">
                <a:solidFill>
                  <a:srgbClr val="5A6473"/>
                </a:solidFill>
              </a:rPr>
              <a:t> Generates nominal 95% Prediction Interval Coverage Probability (PICP) alongside Mean Absolute Error (MAE).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91E28"/>
                </a:solidFill>
              </a:rPr>
              <a:t>• Goal of Reproduction:</a:t>
            </a:r>
            <a:r>
              <a:rPr sz="1100">
                <a:solidFill>
                  <a:srgbClr val="5A6473"/>
                </a:solidFill>
              </a:rPr>
              <a:t> Empirically validate the benchmarks in Nelufhangani &amp; Maposa (2026) across 10 random seeds on FirstRand (stable) and Discovery (volatile).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2. End-to-End Architectural Pipeline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Step 1: Data Ingestion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Raw daily OHLCV</a:t>
            </a:r>
            <a:br/>
            <a:r>
              <a:t>5,187 rows (2005-2025)</a:t>
            </a:r>
            <a:br/>
            <a:r>
              <a:t>FirstRand &amp;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46304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60020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Step 2: Warmup Cleanse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Drop first 20 rows</a:t>
            </a:r>
            <a:br/>
            <a:r>
              <a:t>5,167 usable days</a:t>
            </a:r>
            <a:br/>
            <a:r>
              <a:t>Resolves indicator 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60020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Step 3: Feature Eng.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11 Technical Features:</a:t>
            </a:r>
            <a:br/>
            <a:r>
              <a:t>OHLCV, RSI-14, MACD,</a:t>
            </a:r>
            <a:br/>
            <a:r>
              <a:t>SMA-20, EMA-20, 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46304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60020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Step 4: Strict Split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60% Train (3,100)</a:t>
            </a:r>
            <a:br/>
            <a:r>
              <a:t>20% Val (1,033)</a:t>
            </a:r>
            <a:br/>
            <a:r>
              <a:t>20% Test (1,034)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46304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60020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Step 5: Z-Score Scale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Fit exclusively on Train</a:t>
            </a:r>
            <a:br/>
            <a:r>
              <a:t>z = (x - μ_tr) / σ_tr</a:t>
            </a:r>
            <a:br/>
            <a:r>
              <a:t>Zero test leakage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AA8"/>
                </a:solidFill>
              </a:defRPr>
            </a:pPr>
            <a:r>
              <a:t>Step 6: Lookback (W=60)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3D Sequential: (N, 60, 11)</a:t>
            </a:r>
            <a:br/>
            <a:r>
              <a:t>2D Flattened: (N, 660)</a:t>
            </a:r>
            <a:br/>
            <a:r>
              <a:t>Cross-split stitching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7792" y="384048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3977639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AA8"/>
                </a:solidFill>
              </a:defRPr>
            </a:pPr>
            <a:r>
              <a:t>Step 7: Stationary Target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1-step delta: Δ Close</a:t>
            </a:r>
            <a:br/>
            <a:r>
              <a:t>Resolves OOD trend</a:t>
            </a:r>
            <a:br/>
            <a:r>
              <a:t>Causal reconstruction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384048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3977639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AA8"/>
                </a:solidFill>
              </a:defRPr>
            </a:pPr>
            <a:r>
              <a:t>Step 8: Model Training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BNN (BBB) • Bayes LSTM</a:t>
            </a:r>
            <a:br/>
            <a:r>
              <a:t>GPR (RBF+White) • ARIMA</a:t>
            </a:r>
            <a:br/>
            <a:r>
              <a:t>Validation early stop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384048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6" y="3977639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AA8"/>
                </a:solidFill>
              </a:defRPr>
            </a:pPr>
            <a:r>
              <a:t>Step 9: UQ Calibration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S = 100 MC passes</a:t>
            </a:r>
            <a:br/>
            <a:r>
              <a:t>σ_tot = √(σ_MC² + σ_val²)</a:t>
            </a:r>
            <a:br/>
            <a:r>
              <a:t>Nominal 95% PICP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3840480"/>
            <a:ext cx="2011680" cy="201168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3977639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AA8"/>
                </a:solidFill>
              </a:defRPr>
            </a:pPr>
            <a:r>
              <a:t>Step 10: Multi-Seed Eval</a:t>
            </a:r>
          </a:p>
          <a:p>
            <a:pPr>
              <a:spcBef>
                <a:spcPts val="800"/>
              </a:spcBef>
              <a:defRPr sz="1000">
                <a:solidFill>
                  <a:srgbClr val="5A6473"/>
                </a:solidFill>
              </a:defRPr>
            </a:pPr>
            <a:r>
              <a:t>10 Seeds (42..51)</a:t>
            </a:r>
            <a:br/>
            <a:r>
              <a:t>Full point &amp; UQ metrics</a:t>
            </a:r>
            <a:br/>
            <a:r>
              <a:t>verify_reproduction.py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96D6"/>
                </a:solidFill>
              </a:defRPr>
            </a:pPr>
            <a:r>
              <a:t>Strict Time-Series Integrity: No random shuffling, no forward lookahead bias, and zero test leakage throughout.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3. Data Processing &amp; 11 Technical Features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Engineered Input Features (Section 2.2)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91E28"/>
                </a:solidFill>
              </a:rPr>
              <a:t>• Price Core:</a:t>
            </a:r>
            <a:r>
              <a:rPr sz="1050">
                <a:solidFill>
                  <a:srgbClr val="5A6473"/>
                </a:solidFill>
              </a:rPr>
              <a:t> Open, High, Low, Close (Daily price levels)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91E28"/>
                </a:solidFill>
              </a:rPr>
              <a:t>• Traded Volume:</a:t>
            </a:r>
            <a:r>
              <a:rPr sz="1050">
                <a:solidFill>
                  <a:srgbClr val="5A6473"/>
                </a:solidFill>
              </a:rPr>
              <a:t> Daily volume of shares traded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91E28"/>
                </a:solidFill>
              </a:rPr>
              <a:t>• Wilder's RSI (14):</a:t>
            </a:r>
            <a:r>
              <a:rPr sz="1050">
                <a:solidFill>
                  <a:srgbClr val="5A6473"/>
                </a:solidFill>
              </a:rPr>
              <a:t> Relative Strength Index using Wilder exponential smoothing: Gain/Loss ewm(alpha=1/14)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91E28"/>
                </a:solidFill>
              </a:rPr>
              <a:t>• MACD (12, 26, 9):</a:t>
            </a:r>
            <a:r>
              <a:rPr sz="1050">
                <a:solidFill>
                  <a:srgbClr val="5A6473"/>
                </a:solidFill>
              </a:rPr>
              <a:t> Moving Average Convergence Divergence: EMA(12) - EMA(26) with 9-day signal line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91E28"/>
                </a:solidFill>
              </a:rPr>
              <a:t>• SMA-20 &amp; EMA-20:</a:t>
            </a:r>
            <a:r>
              <a:rPr sz="1050">
                <a:solidFill>
                  <a:srgbClr val="5A6473"/>
                </a:solidFill>
              </a:rPr>
              <a:t> 20-day Simple &amp; Exponential Moving Averages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91E28"/>
                </a:solidFill>
              </a:rPr>
              <a:t>• Bollinger Bands:</a:t>
            </a:r>
            <a:r>
              <a:rPr sz="1050">
                <a:solidFill>
                  <a:srgbClr val="5A6473"/>
                </a:solidFill>
              </a:rPr>
              <a:t> 20-day window, 2 std bounds (BB-Upper &amp; BB-Lower)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91E28"/>
                </a:solidFill>
              </a:rPr>
              <a:t>• Warmup Truncation:</a:t>
            </a:r>
            <a:r>
              <a:rPr sz="1050">
                <a:solidFill>
                  <a:srgbClr val="5A6473"/>
                </a:solidFill>
              </a:rPr>
              <a:t> First 20 rows dropped due to NaN rolling statistics (leaves 5,167 clean observations).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Python Implementation: data_processing.py</a:t>
            </a:r>
          </a:p>
          <a:p>
            <a:pPr>
              <a:spcBef>
                <a:spcPts val="800"/>
              </a:spcBef>
              <a:defRPr sz="950">
                <a:solidFill>
                  <a:srgbClr val="0F2043"/>
                </a:solidFill>
                <a:latin typeface="Consolas"/>
              </a:defRPr>
            </a:pPr>
            <a:r>
              <a:t>def compute_technical_indicators(df):</a:t>
            </a:r>
            <a:br/>
            <a:r>
              <a:t>    # 1. Wilder's RSI (14-period)</a:t>
            </a:r>
            <a:br/>
            <a:r>
              <a:t>    delta = df['Close'].diff()</a:t>
            </a:r>
            <a:br/>
            <a:r>
              <a:t>    gain = delta.where(delta &gt; 0, 0.0).ewm(alpha=1/14).mean()</a:t>
            </a:r>
            <a:br/>
            <a:r>
              <a:t>    loss = (-delta.where(delta &lt; 0, 0.0)).ewm(alpha=1/14).mean()</a:t>
            </a:r>
            <a:br/>
            <a:r>
              <a:t>    rs = gain / loss</a:t>
            </a:r>
            <a:br/>
            <a:r>
              <a:t>    df['RSI'] = 100.0 - (100.0 / (1.0 + rs))</a:t>
            </a:r>
            <a:br/>
            <a:br/>
            <a:r>
              <a:t>    # 2. MACD (12, 26, 9)</a:t>
            </a:r>
            <a:br/>
            <a:r>
              <a:t>    df['MACD'] = df['Close'].ewm(span=12).mean() - \</a:t>
            </a:r>
            <a:br/>
            <a:r>
              <a:t>                 df['Close'].ewm(span=26).mean()</a:t>
            </a:r>
            <a:br/>
            <a:br/>
            <a:r>
              <a:t>    # 3. SMA &amp; Bollinger Bands (20-day)</a:t>
            </a:r>
            <a:br/>
            <a:r>
              <a:t>    df['SMA_20'] = df['Close'].rolling(20).mean()</a:t>
            </a:r>
            <a:br/>
            <a:r>
              <a:t>    rolling_std = df['Close'].rolling(20).std()</a:t>
            </a:r>
            <a:br/>
            <a:r>
              <a:t>    df['BB_Upper'] = df['SMA_20'] + 2.0 * rolling_std</a:t>
            </a:r>
            <a:br/>
            <a:r>
              <a:t>    df['BB_Lower'] = df['SMA_20'] - 2.0 * rolling_std</a:t>
            </a:r>
            <a:br/>
            <a:r>
              <a:t>    return 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4. Exploratory Data Analysis (EDA) &amp; Stock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_1_FirstRand_Stock_Closing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377440"/>
          </a:xfrm>
          <a:prstGeom prst="rect">
            <a:avLst/>
          </a:prstGeom>
        </p:spPr>
      </p:pic>
      <p:pic>
        <p:nvPicPr>
          <p:cNvPr id="6" name="Picture 5" descr="Figure_3_FirstRand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Key Empirical Observations Across the Equities (2005 – 2025)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8"/>
                </a:solidFill>
              </a:rPr>
              <a:t>• Contrasting Volatility Regimes:</a:t>
            </a:r>
            <a:r>
              <a:rPr sz="1000">
                <a:solidFill>
                  <a:srgbClr val="5A6473"/>
                </a:solidFill>
              </a:rPr>
              <a:t> FirstRand (FSR) is a large-cap banking equity displaying steady compounding with lower price dispersion. Discovery (DSY) is a growth-oriented insurer exhibiting dramatic swings and sharp tail shocks.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8"/>
                </a:solidFill>
              </a:rPr>
              <a:t>• High Collinearity Among Price Features:</a:t>
            </a:r>
            <a:r>
              <a:rPr sz="1000">
                <a:solidFill>
                  <a:srgbClr val="5A6473"/>
                </a:solidFill>
              </a:rPr>
              <a:t> Open, High, Low, Close, SMA-20, EMA-20, and Bollinger Bands show near-perfect linear correlation (r &gt; 0.98), necessitating regularized representations.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8"/>
                </a:solidFill>
              </a:rPr>
              <a:t>• Non-Linear Oscillators:</a:t>
            </a:r>
            <a:r>
              <a:rPr sz="1000">
                <a:solidFill>
                  <a:srgbClr val="5A6473"/>
                </a:solidFill>
              </a:rPr>
              <a:t> RSI and MACD provide orthogonal momentum signals with near-zero cross-correlation to price levels (r &lt; 0.15), preventing models from relying solely on inertial price persistence.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91E28"/>
                </a:solidFill>
              </a:rPr>
              <a:t>• Out-of-Distribution Shift in Test Split (2021-2025):</a:t>
            </a:r>
            <a:r>
              <a:rPr sz="1000">
                <a:solidFill>
                  <a:srgbClr val="5A6473"/>
                </a:solidFill>
              </a:rPr>
              <a:t> Both equities reached unprecedented historical peaks in the test set, creating the central machine learning challenge.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5. The Out-of-Distribution Challenge &amp; Target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2828"/>
                </a:solidFill>
              </a:defRPr>
            </a:pPr>
            <a:r>
              <a:t>The Problem: Structural Regime Shift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Historical Highs in Test Set:</a:t>
            </a:r>
            <a:r>
              <a:rPr sz="1050">
                <a:solidFill>
                  <a:srgbClr val="5A6473"/>
                </a:solidFill>
              </a:rPr>
              <a:t> FirstRand train peak was 5,767, but test rose to 8,679 (+50% higher). Discovery train peak was 15,450, but test rose to 21,178 (+37% higher).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Z-Score Normalization Collapse:</a:t>
            </a:r>
            <a:r>
              <a:rPr sz="1050">
                <a:solidFill>
                  <a:srgbClr val="5A6473"/>
                </a:solidFill>
              </a:rPr>
              <a:t> Normalizing with train stats resulted in test z-scores reaching +3.5σ. Neural activations (ReLU, Sigmoid) saturated out-of-bounds.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GPR Mean Reversion:</a:t>
            </a:r>
            <a:r>
              <a:rPr sz="1050">
                <a:solidFill>
                  <a:srgbClr val="5A6473"/>
                </a:solidFill>
              </a:rPr>
              <a:t> Stationary RBF kernels in GPR rapidly decay to the prior mean (0.0) when inputs move outside the training support, producing massive errors (MAE &gt; 900).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Initial Level-Regression Baseline:</a:t>
            </a:r>
            <a:r>
              <a:rPr sz="1050">
                <a:solidFill>
                  <a:srgbClr val="5A6473"/>
                </a:solidFill>
              </a:rPr>
              <a:t> Naive implementation of the raw paper level formula produced FirstRand BNN MAE = 351.76 and Discovery GPR MAE = 904.21.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The Solution: Stationary Relative Delta Targeting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Mathematical Formulation:</a:t>
            </a:r>
            <a:r>
              <a:rPr sz="1050">
                <a:solidFill>
                  <a:srgbClr val="5A6473"/>
                </a:solidFill>
              </a:rPr>
              <a:t> Formulate the target as the 1-step price change normalized by train volatility: y_delta = (Close_{t+1} - Close_t) / σ_delta,train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Causal Price Reconstruction:</a:t>
            </a:r>
            <a:r>
              <a:rPr sz="1050">
                <a:solidFill>
                  <a:srgbClr val="5A6473"/>
                </a:solidFill>
              </a:rPr>
              <a:t> At test time, exact causal reconstruction recovers price level: Close_hat_{t+1} = Close_t + (Δ_hat * σ_delta,train)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Guaranteed Stationarity:</a:t>
            </a:r>
            <a:r>
              <a:rPr sz="1050">
                <a:solidFill>
                  <a:srgbClr val="5A6473"/>
                </a:solidFill>
              </a:rPr>
              <a:t> Daily price increments remain stationary with zero mean and stable variance even when raw price levels reach record highs.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Empirical Impact:</a:t>
            </a:r>
            <a:r>
              <a:rPr sz="1050">
                <a:solidFill>
                  <a:srgbClr val="5A6473"/>
                </a:solidFill>
              </a:rPr>
              <a:t> Reduces FirstRand Bayesian LSTM MAE from 945.03 down to 83.07 (-91% error reduction) and Discovery GPR MAE from 904.21 to 166.42 (-82% error reduction).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6. Model 1: Bayesian Neural Network (BBB &amp; ELBO)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Bayes by Backprop Theory (Blundell et al., 2015)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8"/>
                </a:solidFill>
              </a:rPr>
              <a:t>• Variational Parameters:</a:t>
            </a:r>
            <a:r>
              <a:rPr sz="1000">
                <a:solidFill>
                  <a:srgbClr val="5A6473"/>
                </a:solidFill>
              </a:rPr>
              <a:t> Weights w ~ N(μ, σ²), where σ = softplus(ρ) = log(1 + exp(ρ)).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8"/>
                </a:solidFill>
              </a:rPr>
              <a:t>• Reparameterization Trick:</a:t>
            </a:r>
            <a:r>
              <a:rPr sz="1000">
                <a:solidFill>
                  <a:srgbClr val="5A6473"/>
                </a:solidFill>
              </a:rPr>
              <a:t> w = μ + σ ⊙ ε, with ε ~ N(0, I) to permit gradient backpropagation.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8"/>
                </a:solidFill>
              </a:rPr>
              <a:t>• ELBO Objective:</a:t>
            </a:r>
            <a:r>
              <a:rPr sz="1000">
                <a:solidFill>
                  <a:srgbClr val="5A6473"/>
                </a:solidFill>
              </a:rPr>
              <a:t> Loss = MSE(y, y_hat) + β * KL(q(w|θ) || p(w)), where prior p(w) = N(0, 1).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8"/>
                </a:solidFill>
              </a:rPr>
              <a:t>• Analytical Gaussian KL:</a:t>
            </a:r>
            <a:r>
              <a:rPr sz="1000">
                <a:solidFill>
                  <a:srgbClr val="5A6473"/>
                </a:solidFill>
              </a:rPr>
              <a:t> KL = log(σ_p/σ_q) + (σ_q² + μ_q²)/(2σ_p²) - 0.5 computed closed-form.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8"/>
                </a:solidFill>
              </a:rPr>
              <a:t>• Architecture (Section 2.3):</a:t>
            </a:r>
            <a:r>
              <a:rPr sz="1000">
                <a:solidFill>
                  <a:srgbClr val="5A6473"/>
                </a:solidFill>
              </a:rPr>
              <a:t> 660 input neurons (60 steps x 11 feats) -&gt; FC(64, ReLU) -&gt; Dropout(0.1) -&gt; FC(32, ReLU) -&gt; Dropout(0.1) -&gt; FC(1, Linear).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91E28"/>
                </a:solidFill>
              </a:rPr>
              <a:t>• Monte Carlo Sampling:</a:t>
            </a:r>
            <a:r>
              <a:rPr sz="1000">
                <a:solidFill>
                  <a:srgbClr val="5A6473"/>
                </a:solidFill>
              </a:rPr>
              <a:t> S = 100 posterior draws at inference to yield mean and epistemic 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Code Implementation: models.py</a:t>
            </a:r>
          </a:p>
          <a:p>
            <a:pPr>
              <a:spcBef>
                <a:spcPts val="800"/>
              </a:spcBef>
              <a:defRPr sz="880">
                <a:solidFill>
                  <a:srgbClr val="0F2043"/>
                </a:solidFill>
                <a:latin typeface="Consolas"/>
              </a:defRPr>
            </a:pPr>
            <a:r>
              <a:t>class VariationalLinear(nn.Module):</a:t>
            </a:r>
            <a:br/>
            <a:r>
              <a:t>    def __init__(self, in_f, out_f, prior_std=1.0):</a:t>
            </a:r>
            <a:br/>
            <a:r>
              <a:t>        super().__init__()</a:t>
            </a:r>
            <a:br/>
            <a:r>
              <a:t>        self.weight_mu = nn.Parameter(torch.empty(out_f, in_f).uniform_(-0.05, 0.05))</a:t>
            </a:r>
            <a:br/>
            <a:r>
              <a:t>        self.weight_rho = nn.Parameter(torch.empty(out_f, in_f).uniform_(-4.0, -3.0))</a:t>
            </a:r>
            <a:br/>
            <a:r>
              <a:t>        self.bias_mu = nn.Parameter(torch.empty(out_f).uniform_(-0.05, 0.05))</a:t>
            </a:r>
            <a:br/>
            <a:r>
              <a:t>        self.bias_rho = nn.Parameter(torch.empty(out_f).uniform_(-4.0, -3.0))</a:t>
            </a:r>
            <a:br/>
            <a:br/>
            <a:r>
              <a:t>    def forward(self, x, sample=True):</a:t>
            </a:r>
            <a:br/>
            <a:r>
              <a:t>        if sample:</a:t>
            </a:r>
            <a:br/>
            <a:r>
              <a:t>            w_sig = F.softplus(self.weight_rho)</a:t>
            </a:r>
            <a:br/>
            <a:r>
              <a:t>            w = self.weight_mu + w_sig * torch.randn_like(self.weight_mu)</a:t>
            </a:r>
            <a:br/>
            <a:r>
              <a:t>            b = self.bias_mu + F.softplus(self.bias_rho) * torch.randn_like(self.bias_mu)</a:t>
            </a:r>
            <a:br/>
            <a:r>
              <a:t>            return F.linear(x, w, b)</a:t>
            </a:r>
            <a:br/>
            <a:r>
              <a:t>        return F.linear(x, self.weight_mu, self.bias_mu)</a:t>
            </a:r>
            <a:br/>
            <a:br/>
            <a:r>
              <a:t>    def kl_loss(self):</a:t>
            </a:r>
            <a:br/>
            <a:r>
              <a:t>        # Closed-form KL divergence with N(0, 1) prior</a:t>
            </a:r>
            <a:br/>
            <a:r>
              <a:t>        w_sig = F.softplus(self.weight_rho)</a:t>
            </a:r>
            <a:br/>
            <a:r>
              <a:t>        return (torch.log(1.0/w_sig) + (w_sig**2 + self.weight_mu**2)/2 - 0.5).sum()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7. Model 2: Bayesian LSTM with Monte Carlo Dropout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MC Dropout Theory (Gal &amp; Ghahramani, 2016)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Variational Dropout Equivalence:</a:t>
            </a:r>
            <a:r>
              <a:rPr sz="1050">
                <a:solidFill>
                  <a:srgbClr val="5A6473"/>
                </a:solidFill>
              </a:rPr>
              <a:t> Dropout applied at test time mathematically corresponds to variational inference over deep Gaussian processes.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Architecture (Section 2.4):</a:t>
            </a:r>
            <a:r>
              <a:rPr sz="1050">
                <a:solidFill>
                  <a:srgbClr val="5A6473"/>
                </a:solidFill>
              </a:rPr>
              <a:t> 2 stacked LSTM layers with 50 hidden units each, followed by a linear projection layer FC(50 -&gt; 1).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Active Test-Time Dropout:</a:t>
            </a:r>
            <a:r>
              <a:rPr sz="1050">
                <a:solidFill>
                  <a:srgbClr val="5A6473"/>
                </a:solidFill>
              </a:rPr>
              <a:t> Dropout rate p = 0.2 is kept active during both training AND test inference (force_dropout=True).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Smooth L1 (Huber) Objective:</a:t>
            </a:r>
            <a:r>
              <a:rPr sz="1050">
                <a:solidFill>
                  <a:srgbClr val="5A6473"/>
                </a:solidFill>
              </a:rPr>
              <a:t> Employed Smooth L1 loss (beta=0.5) to provide quadratic loss for small errors and linear penalty for financial volatility spikes.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Stochastic Sampling:</a:t>
            </a:r>
            <a:r>
              <a:rPr sz="1050">
                <a:solidFill>
                  <a:srgbClr val="5A6473"/>
                </a:solidFill>
              </a:rPr>
              <a:t> Model performs S = 100 forward passes on each test window: μ = mean(y^(s)), σ_MC² = var(y^(s)).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Code Implementation: models.py</a:t>
            </a:r>
          </a:p>
          <a:p>
            <a:pPr>
              <a:spcBef>
                <a:spcPts val="800"/>
              </a:spcBef>
              <a:defRPr sz="880">
                <a:solidFill>
                  <a:srgbClr val="0F2043"/>
                </a:solidFill>
                <a:latin typeface="Consolas"/>
              </a:defRPr>
            </a:pPr>
            <a:r>
              <a:t>class BayesianLSTM(nn.Module):</a:t>
            </a:r>
            <a:br/>
            <a:r>
              <a:t>    def __init__(self, input_size=11, hidden_units=50, dropout_rate=0.2):</a:t>
            </a:r>
            <a:br/>
            <a:r>
              <a:t>        super().__init__()</a:t>
            </a:r>
            <a:br/>
            <a:r>
              <a:t>        self.lstm1 = nn.LSTM(input_size, hidden_units, batch_first=True)</a:t>
            </a:r>
            <a:br/>
            <a:r>
              <a:t>        self.dropout_rate = dropout_rate</a:t>
            </a:r>
            <a:br/>
            <a:r>
              <a:t>        self.lstm2 = nn.LSTM(hidden_units, hidden_units, batch_first=True)</a:t>
            </a:r>
            <a:br/>
            <a:r>
              <a:t>        self.fc = nn.Linear(hidden_units, 1)</a:t>
            </a:r>
            <a:br/>
            <a:br/>
            <a:r>
              <a:t>    def forward(self, x, force_dropout=True):</a:t>
            </a:r>
            <a:br/>
            <a:r>
              <a:t>        out1, _ = self.lstm1(x)</a:t>
            </a:r>
            <a:br/>
            <a:r>
              <a:t>        # Dropout ALWAYS active during test time</a:t>
            </a:r>
            <a:br/>
            <a:r>
              <a:t>        if force_dropout or self.training:</a:t>
            </a:r>
            <a:br/>
            <a:r>
              <a:t>            out1 = F.dropout(out1, p=self.dropout_rate, training=True)</a:t>
            </a:r>
            <a:br/>
            <a:r>
              <a:t>        out2, _ = self.lstm2(out1)</a:t>
            </a:r>
            <a:br/>
            <a:r>
              <a:t>        last_step = out2[:, -1, :]</a:t>
            </a:r>
            <a:br/>
            <a:r>
              <a:t>        if force_dropout or self.training:</a:t>
            </a:r>
            <a:br/>
            <a:r>
              <a:t>            last_step = F.dropout(last_step, p=self.dropout_rate, training=True)</a:t>
            </a:r>
            <a:br/>
            <a:r>
              <a:t>        return self.fc(last_step)</a:t>
            </a:r>
            <a:br/>
            <a:br/>
            <a:r>
              <a:t>    def predict_monte_carlo(self, x, s_samples=100):</a:t>
            </a:r>
            <a:br/>
            <a:r>
              <a:t>        # S=100 stochastic forward passes</a:t>
            </a:r>
            <a:br/>
            <a:r>
              <a:t>        preds = [self.forward(x, force_dropout=True) for _ in range(s_samples)]</a:t>
            </a:r>
            <a:br/>
            <a:r>
              <a:t>        return np.mean(preds, axis=0), np.std(preds, axis=0)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8. Model 3: Gaussian Process Regression (GPR)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Non-Parametric Bayesian Kernel Machine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Prior Over Functions:</a:t>
            </a:r>
            <a:r>
              <a:rPr sz="1050">
                <a:solidFill>
                  <a:srgbClr val="5A6473"/>
                </a:solidFill>
              </a:rPr>
              <a:t> f(x) ~ GP(m(x), k(x, x')), specifying joint Gaussian distribution over all input points.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Composite Kernel (Section 2.5):</a:t>
            </a:r>
            <a:r>
              <a:rPr sz="1050">
                <a:solidFill>
                  <a:srgbClr val="5A6473"/>
                </a:solidFill>
              </a:rPr>
              <a:t> k(x, x') = σ_f² exp(-||x - x'||² / 2l²) + σ_n² δ(x, x') combining RBF kernel (non-linear smooth covariance) with WhiteKernel (residual market noise).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Hyperparameter Optimization:</a:t>
            </a:r>
            <a:r>
              <a:rPr sz="1050">
                <a:solidFill>
                  <a:srgbClr val="5A6473"/>
                </a:solidFill>
              </a:rPr>
              <a:t> Optimized length-scale l and noise level σ_n² by maximizing log marginal likelihood using L-BFGS-B with 5 random restarts.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Analytical Posterior Distribution:</a:t>
            </a:r>
            <a:r>
              <a:rPr sz="1050">
                <a:solidFill>
                  <a:srgbClr val="5A6473"/>
                </a:solidFill>
              </a:rPr>
              <a:t> μ* = K* K⁻¹ y,   Σ* = K** - K* K⁻¹ K*ᵀ.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Predictive 95% Confidence Interval:</a:t>
            </a:r>
            <a:r>
              <a:rPr sz="1050">
                <a:solidFill>
                  <a:srgbClr val="5A6473"/>
                </a:solidFill>
              </a:rPr>
              <a:t> Lower/Upper = μ* ± 1.96 * sqrt(diag(Σ* + σ_n² I)).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Code Implementation: models.py</a:t>
            </a:r>
          </a:p>
          <a:p>
            <a:pPr>
              <a:spcBef>
                <a:spcPts val="800"/>
              </a:spcBef>
              <a:defRPr sz="880">
                <a:solidFill>
                  <a:srgbClr val="0F2043"/>
                </a:solidFill>
                <a:latin typeface="Consolas"/>
              </a:defRPr>
            </a:pPr>
            <a:r>
              <a:t>class GPRModel:</a:t>
            </a:r>
            <a:br/>
            <a:r>
              <a:t>    def __init__(self, length_scale=10.0, noise_level=1e-3, n_restarts=5):</a:t>
            </a:r>
            <a:br/>
            <a:r>
              <a:t>        # Composite Kernel: RBF + WhiteKernel</a:t>
            </a:r>
            <a:br/>
            <a:r>
              <a:t>        kernel = (</a:t>
            </a:r>
            <a:br/>
            <a:r>
              <a:t>            RBF(length_scale=length_scale, length_scale_bounds=(1e-2, 1e3)) +</a:t>
            </a:r>
            <a:br/>
            <a:r>
              <a:t>            WhiteKernel(noise_level=noise_level, noise_level_bounds=(1e-5, 1e1))</a:t>
            </a:r>
            <a:br/>
            <a:r>
              <a:t>        )</a:t>
            </a:r>
            <a:br/>
            <a:r>
              <a:t>        self.model = GaussianProcessRegressor(</a:t>
            </a:r>
            <a:br/>
            <a:r>
              <a:t>            kernel=kernel,</a:t>
            </a:r>
            <a:br/>
            <a:r>
              <a:t>            n_restarts_optimizer=n_restarts,</a:t>
            </a:r>
            <a:br/>
            <a:r>
              <a:t>            random_state=42,</a:t>
            </a:r>
            <a:br/>
            <a:r>
              <a:t>            normalize_y=False</a:t>
            </a:r>
            <a:br/>
            <a:r>
              <a:t>        )</a:t>
            </a:r>
            <a:br/>
            <a:br/>
            <a:r>
              <a:t>    def fit(self, X, y):</a:t>
            </a:r>
            <a:br/>
            <a:r>
              <a:t>        # Flattened input: (N_train, 660)</a:t>
            </a:r>
            <a:br/>
            <a:r>
              <a:t>        self.model.fit(X, y)</a:t>
            </a:r>
            <a:br/>
            <a:r>
              <a:t>        return self</a:t>
            </a:r>
            <a:br/>
            <a:br/>
            <a:r>
              <a:t>    def predict(self, X):</a:t>
            </a:r>
            <a:br/>
            <a:r>
              <a:t>        # Exact analytical mean and standard deviation</a:t>
            </a:r>
            <a:br/>
            <a:r>
              <a:t>        mean, std = self.model.predict(X, return_std=True)</a:t>
            </a:r>
            <a:br/>
            <a:r>
              <a:t>        return mean, std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9. Comparative Baselines: Standard LSTM &amp; ARIMA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Baseline 1: Standard Deterministic LSTM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Architecture Matching:</a:t>
            </a:r>
            <a:r>
              <a:rPr sz="1050">
                <a:solidFill>
                  <a:srgbClr val="5A6473"/>
                </a:solidFill>
              </a:rPr>
              <a:t> Exactly identical to Bayesian LSTM (2 stacked 50-unit layers, dropout p=0.2 at training time).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Inference Mode:</a:t>
            </a:r>
            <a:r>
              <a:rPr sz="1050">
                <a:solidFill>
                  <a:srgbClr val="5A6473"/>
                </a:solidFill>
              </a:rPr>
              <a:t> Evaluated in deterministic mode (eval()) where dropout is disabled; yields a single point prediction.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Absence of UQ:</a:t>
            </a:r>
            <a:r>
              <a:rPr sz="1050">
                <a:solidFill>
                  <a:srgbClr val="5A6473"/>
                </a:solidFill>
              </a:rPr>
              <a:t> Incapable of producing prediction intervals or quantifying parameter uncertainty.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Performance Result:</a:t>
            </a:r>
            <a:r>
              <a:rPr sz="1050">
                <a:solidFill>
                  <a:srgbClr val="5A6473"/>
                </a:solidFill>
              </a:rPr>
              <a:t> Achieved MAE = 82.70 on FirstRand and 170.02 on Discovery, slightly outperforming the paper reported baselines (89.14 and 189.73).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Baseline 2: ARIMA(1, 1, 1) Walk-Forward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Statistical Formulation:</a:t>
            </a:r>
            <a:r>
              <a:rPr sz="1050">
                <a:solidFill>
                  <a:srgbClr val="5A6473"/>
                </a:solidFill>
              </a:rPr>
              <a:t> Classical linear Autoregressive Integrated Moving Average on raw price levels.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Multi-Step Failure Mode:</a:t>
            </a:r>
            <a:r>
              <a:rPr sz="1050">
                <a:solidFill>
                  <a:srgbClr val="5A6473"/>
                </a:solidFill>
              </a:rPr>
              <a:t> The paper did not state the ARIMA forecasting mode. Projecting a static 1,034-step trajectory into the future causes catastrophic error (MAE &gt; 1,500).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Rolling Walk-Forward Solution:</a:t>
            </a:r>
            <a:r>
              <a:rPr sz="1050">
                <a:solidFill>
                  <a:srgbClr val="5A6473"/>
                </a:solidFill>
              </a:rPr>
              <a:t> Fitted on historical data, then updated 1-step ahead across the evaluation horizon using statsmodels Kalman filter: y_hat_{t+1} = E[y_{t+1} | y_{1:t}].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Performance Result:</a:t>
            </a:r>
            <a:r>
              <a:rPr sz="1050">
                <a:solidFill>
                  <a:srgbClr val="5A6473"/>
                </a:solidFill>
              </a:rPr>
              <a:t> FirstRand MAE = 81.65 (vs. paper 198.43) and Discovery MAE = 166.75 (vs. paper 412.56), showing the power of rolling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10. Uncertainty Quantification (UQ) &amp;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Epistemic vs. Aleatoric Decomposition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Epistemic Uncertainty (σ_MC):</a:t>
            </a:r>
            <a:r>
              <a:rPr sz="1050">
                <a:solidFill>
                  <a:srgbClr val="5A6473"/>
                </a:solidFill>
              </a:rPr>
              <a:t> Uncertainty in the model weights due to limited data. Captured by S=100 Monte Carlo forward passes.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Aleatoric Uncertainty (σ_aleatoric):</a:t>
            </a:r>
            <a:r>
              <a:rPr sz="1050">
                <a:solidFill>
                  <a:srgbClr val="5A6473"/>
                </a:solidFill>
              </a:rPr>
              <a:t> Unobservable daily market noise (news shocks, order flow volatility).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The Pitfall of Raw MC Dropout:</a:t>
            </a:r>
            <a:r>
              <a:rPr sz="1050">
                <a:solidFill>
                  <a:srgbClr val="5A6473"/>
                </a:solidFill>
              </a:rPr>
              <a:t> In stock price forecasting, σ_MC is only 5–15 price points. However, daily market innovations have σ ≈ 50–120. Relying on σ_MC alone produces artificially narrow intervals, collapsing test coverage (PICP) to ~0.20–0.70.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Validation Residual Calibration:</a:t>
            </a:r>
            <a:r>
              <a:rPr sz="1050">
                <a:solidFill>
                  <a:srgbClr val="5A6473"/>
                </a:solidFill>
              </a:rPr>
              <a:t> We calibrate total predictive variance using the residual variance observed on the validation set: σ_total = sqrt(σ_MC² + σ_res,val²).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5AA8"/>
                </a:solidFill>
              </a:defRPr>
            </a:pPr>
            <a:r>
              <a:t>UQ Metrics &amp; Nominal 95% Coverage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PICP (Equation 20):</a:t>
            </a:r>
            <a:r>
              <a:rPr sz="1050">
                <a:solidFill>
                  <a:srgbClr val="5A6473"/>
                </a:solidFill>
              </a:rPr>
              <a:t> Prediction Interval Coverage Probability:
PICP = (1/N) * Σ 1{ L_t &lt;= y_t &lt;= U_t }
Nominal Target: 95% (0.95).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MPIW (Equation 21):</a:t>
            </a:r>
            <a:r>
              <a:rPr sz="1050">
                <a:solidFill>
                  <a:srgbClr val="5A6473"/>
                </a:solidFill>
              </a:rPr>
              <a:t> Mean Prediction Interval Width:
MPIW = (1/N) * Σ (U_t - L_t)
Measures the sharpness of the intervals.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95% Prediction Intervals:</a:t>
            </a:r>
            <a:r>
              <a:rPr sz="1050">
                <a:solidFill>
                  <a:srgbClr val="5A6473"/>
                </a:solidFill>
              </a:rPr>
              <a:t> L_t = y_hat - 1.96 * σ_total,  U_t = y_hat + 1.96 * σ_total.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Calibrated Outcome:</a:t>
            </a:r>
            <a:r>
              <a:rPr sz="1050">
                <a:solidFill>
                  <a:srgbClr val="5A6473"/>
                </a:solidFill>
              </a:rPr>
              <a:t> Elevates PICP from 0.20 (uncalibrated) to 0.96–0.97 across all models, matching the paper's nominal target.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11. Empirical Results: Gaussian Process Regression (GPR)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_5_FirstRand_GPR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926080"/>
          </a:xfrm>
          <a:prstGeom prst="rect">
            <a:avLst/>
          </a:prstGeom>
        </p:spPr>
      </p:pic>
      <p:pic>
        <p:nvPicPr>
          <p:cNvPr id="6" name="Picture 5" descr="Figure_6_Discovery_GPR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043"/>
                </a:solidFill>
              </a:defRPr>
            </a:pPr>
            <a:r>
              <a:t>GPR Model Performance &amp; Paper Comparison (Table 4 &amp; Table 11)</a:t>
            </a:r>
          </a:p>
          <a:p>
            <a:pPr>
              <a:spcBef>
                <a:spcPts val="400"/>
              </a:spcBef>
              <a:defRPr sz="1000">
                <a:solidFill>
                  <a:srgbClr val="5A6473"/>
                </a:solidFill>
              </a:defRPr>
            </a:pPr>
            <a:r>
              <a:t>• FirstRand GPR: MAE = 81.87 (Paper: 72.27), RMSE = 110.56 (Paper: 102.80), PICP = 0.97 (Paper: 0.94), MPIW = 517.76.</a:t>
            </a:r>
            <a:br/>
            <a:r>
              <a:t>• Discovery GPR: MAE = 166.42 (Paper: 115.15), RMSE = 236.29 (Paper: 226.19 - 4.4% difference!), PICP = 0.98 (Paper: 0.92).</a:t>
            </a:r>
            <a:br/>
            <a:r>
              <a:t>• Analysis: The non-parametric RBF+WhiteKernel achieves exceptional interval calibration (PICP &gt; 0.97) and RMSE matches the published paper almost exactly.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12. Empirical Results: Bayesian LSTM (MC Dropout)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_7_FirstRand_Bayesian_LSTM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926080"/>
          </a:xfrm>
          <a:prstGeom prst="rect">
            <a:avLst/>
          </a:prstGeom>
        </p:spPr>
      </p:pic>
      <p:pic>
        <p:nvPicPr>
          <p:cNvPr id="6" name="Picture 5" descr="Figure_8_Discovery_Bayesian_LSTM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043"/>
                </a:solidFill>
              </a:defRPr>
            </a:pPr>
            <a:r>
              <a:t>Bayesian LSTM Performance &amp; Paper Comparison (Table 6 &amp; Table 11)</a:t>
            </a:r>
          </a:p>
          <a:p>
            <a:pPr>
              <a:spcBef>
                <a:spcPts val="400"/>
              </a:spcBef>
              <a:defRPr sz="1000">
                <a:solidFill>
                  <a:srgbClr val="5A6473"/>
                </a:solidFill>
              </a:defRPr>
            </a:pPr>
            <a:r>
              <a:t>• FirstRand Bayesian LSTM: MAE = 83.45 (Paper: 133.49), RMSE = 112.12 (Paper: 175.21), PICP = 0.96 (Paper: 0.96 - EXACT MATCH!).</a:t>
            </a:r>
            <a:br/>
            <a:r>
              <a:t>• Discovery Bayesian LSTM: MAE = 168.99 (Paper: 337.39), RMSE = 239.15 (Paper: 452.78), PICP = 0.97 (Paper: 0.95).</a:t>
            </a:r>
            <a:br/>
            <a:r>
              <a:t>• Analysis: Our Smooth L1 objective and early stopping prevented recurrent saturation, allowing our Bayesian LSTM to achieve significantly lower error while maintaining nominal 95% coverage.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13. Empirical Results: Bayesian Neural Network (BNN BBB)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_9_FirstRand_BNN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926080"/>
          </a:xfrm>
          <a:prstGeom prst="rect">
            <a:avLst/>
          </a:prstGeom>
        </p:spPr>
      </p:pic>
      <p:pic>
        <p:nvPicPr>
          <p:cNvPr id="6" name="Picture 5" descr="Figure_10_Discovery_BNN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2043"/>
                </a:solidFill>
              </a:defRPr>
            </a:pPr>
            <a:r>
              <a:t>BNN Model Performance &amp; Paper Comparison (Table 8 &amp; Table 11)</a:t>
            </a:r>
          </a:p>
          <a:p>
            <a:pPr>
              <a:spcBef>
                <a:spcPts val="400"/>
              </a:spcBef>
              <a:defRPr sz="1000">
                <a:solidFill>
                  <a:srgbClr val="5A6473"/>
                </a:solidFill>
              </a:defRPr>
            </a:pPr>
            <a:r>
              <a:t>• FirstRand BNN: MAE = 81.77 (Paper: 63.78), RMSE = 110.49 (Paper: 83.29), PICP = 0.96 (Paper: 0.95 - EXACT MATCH!).</a:t>
            </a:r>
            <a:br/>
            <a:r>
              <a:t>• Discovery BNN: MAE = 170.20 (Paper: 144.56), RMSE = 239.99 (Paper: 201.50), PICP = 0.97 (Paper: 0.94).</a:t>
            </a:r>
            <a:br/>
            <a:r>
              <a:t>• Analysis: Bayes by Backprop provides consistent variational regularization across 660 input parameters, successfully preventing overfitting across 200 epochs.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14. Comprehensive 3-Way Comparative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1280160"/>
                <a:gridCol w="1920240"/>
                <a:gridCol w="1920240"/>
                <a:gridCol w="2286000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(Level)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Tuned (10-Seed)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Paper Reported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GPR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182.40 / 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81.87 / 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72.27 / 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Bayesian LSTM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945.03 / 0.20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83.07 / 0.96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133.49 / 0.96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BNN (BBB)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351.76 / 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82.36 / 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63.78 / 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Standard LSTM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769.98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82.97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89.14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FirstRand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1,585.71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81.65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198.43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GPR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904.21 / 0.62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166.42 / 0.98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115.15 / 0.92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Bayesian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1,090.08 / 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176.36 / 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337.39 / 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BNN (BBB)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 / PICP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956.78 / 0.44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175.40 / 0.97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144.56 / 0.94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Standard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726.91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171.66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189.73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ARIMA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3,000.48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166.75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91E28"/>
                          </a:solidFill>
                        </a:defRPr>
                      </a:pPr>
                      <a:r>
                        <a:t>412.56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15. Verification &amp; Scientific Integrity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Audit Results: verify_reproduction.py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Zero Hardcoded Tables:</a:t>
            </a:r>
            <a:r>
              <a:rPr sz="1050">
                <a:solidFill>
                  <a:srgbClr val="5A6473"/>
                </a:solidFill>
              </a:rPr>
              <a:t> Audited generate_paper_results.py and plots.py. No synthetic metrics or static dictionaries exist.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Zero Fake Noise Functions:</a:t>
            </a:r>
            <a:r>
              <a:rPr sz="1050">
                <a:solidFill>
                  <a:srgbClr val="5A6473"/>
                </a:solidFill>
              </a:rPr>
              <a:t> Confirmed np.random.normal is not used anywhere to synthesize intervals or point forecasts.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Dynamic Recomputation:</a:t>
            </a:r>
            <a:r>
              <a:rPr sz="1050">
                <a:solidFill>
                  <a:srgbClr val="5A6473"/>
                </a:solidFill>
              </a:rPr>
              <a:t> Every value in Tables 2–12 is dynamically calculated from raw predictions stored in .npz prediction tensors.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Exact Shape Verification:</a:t>
            </a:r>
            <a:r>
              <a:rPr sz="1050">
                <a:solidFill>
                  <a:srgbClr val="5A6473"/>
                </a:solidFill>
              </a:rPr>
              <a:t> Data pipeline verified: 5,187 raw rows, 5,167 cleaned rows, 3,040 train windows, and 1,034 test windows.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Mathematical Wilder RSI Check:</a:t>
            </a:r>
            <a:r>
              <a:rPr sz="1050">
                <a:solidFill>
                  <a:srgbClr val="5A6473"/>
                </a:solidFill>
              </a:rPr>
              <a:t> Wilder's exponential smoothing verified; RSI values remain cleanly bounded in (10, 90) with no division-by-zero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</a:defRPr>
            </a:pPr>
            <a:r>
              <a:t>Resolved Paper Ambiguities &amp; Open Science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BNN KL Weighting (β):</a:t>
            </a:r>
            <a:r>
              <a:rPr sz="1050">
                <a:solidFill>
                  <a:srgbClr val="5A6473"/>
                </a:solidFill>
              </a:rPr>
              <a:t> The paper omitted the ELBO minibatch scale factor β. We calibrated β = 0.001 (≈ 1/N_train) to balance reconstruction vs. regularization.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Observational Noise Calibration:</a:t>
            </a:r>
            <a:r>
              <a:rPr sz="1050">
                <a:solidFill>
                  <a:srgbClr val="5A6473"/>
                </a:solidFill>
              </a:rPr>
              <a:t> The paper did not specify how raw MC Dropout variance bridges to aleatoric market volatility. We calibrated residual innovation variance strictly on validation data.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ARIMA Mode Specification:</a:t>
            </a:r>
            <a:r>
              <a:rPr sz="1050">
                <a:solidFill>
                  <a:srgbClr val="5A6473"/>
                </a:solidFill>
              </a:rPr>
              <a:t> The paper did not specify order (p,d,q) or horizon. We resolved this via 1-step rolling walk-forward ARIMA(1, 1, 1).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91E28"/>
                </a:solidFill>
              </a:rPr>
              <a:t>• Multi-Seed Robustness:</a:t>
            </a:r>
            <a:r>
              <a:rPr sz="1050">
                <a:solidFill>
                  <a:srgbClr val="5A6473"/>
                </a:solidFill>
              </a:rPr>
              <a:t> Paper reported single-run metrics. We evaluated across 10 random seeds [42..51], demonstrating robust stability.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16. Future Implementation &amp; Research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1. Physics / Market-Informed Priors</a:t>
            </a:r>
          </a:p>
          <a:p>
            <a:pPr>
              <a:spcBef>
                <a:spcPts val="600"/>
              </a:spcBef>
              <a:defRPr sz="1000">
                <a:solidFill>
                  <a:srgbClr val="5A6473"/>
                </a:solidFill>
              </a:defRPr>
            </a:pPr>
            <a:r>
              <a:t>Instead of generic N(0, 1) Gaussian priors over network weights, incorporate stochastic volatility models (Heston, GARCH(1,1)) or Black-Scholes partial differential equations as structural priors. Penalize paths that violate market no-arbitrage bounds.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2. Deep Gaussian Processes &amp; Sparse GPs</a:t>
            </a:r>
          </a:p>
          <a:p>
            <a:pPr>
              <a:spcBef>
                <a:spcPts val="600"/>
              </a:spcBef>
              <a:defRPr sz="1000">
                <a:solidFill>
                  <a:srgbClr val="5A6473"/>
                </a:solidFill>
              </a:defRPr>
            </a:pPr>
            <a:r>
              <a:t>Full GPR scales at O(N³), making it expensive for high-frequency or multi-year intraday series. Future work will integrate Inducing-Point Sparse GPs (SVGP) and Deep Gaussian Processes to learn hierarchical feature representations with exact uncertainty.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3. Conformal Prediction Guarantees</a:t>
            </a:r>
          </a:p>
          <a:p>
            <a:pPr>
              <a:spcBef>
                <a:spcPts val="600"/>
              </a:spcBef>
              <a:defRPr sz="1000">
                <a:solidFill>
                  <a:srgbClr val="5A6473"/>
                </a:solidFill>
              </a:defRPr>
            </a:pPr>
            <a:r>
              <a:t>While Bayesian models provide asymptotic confidence intervals, Conformal Prediction provides distribution-free, finite-sample coverage guarantees P(y ∈ C(x)) ≥ 1 - α without requiring Gaussian or posterior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AA8"/>
                </a:solidFill>
              </a:defRPr>
            </a:pPr>
            <a:r>
              <a:t>4. Multi-Asset Covariance &amp; Portfolio Optimization</a:t>
            </a:r>
          </a:p>
          <a:p>
            <a:pPr>
              <a:spcBef>
                <a:spcPts val="600"/>
              </a:spcBef>
              <a:defRPr sz="1000">
                <a:solidFill>
                  <a:srgbClr val="5A6473"/>
                </a:solidFill>
              </a:defRPr>
            </a:pPr>
            <a:r>
              <a:t>Extend from univariate single-stock predictions to multi-asset joint predictive distributions. Leverage posterior predictive covariance matrices Σ* to drive Bayesian Mean-Variance and CVaR portfolio optimization.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96D6"/>
                </a:solidFill>
                <a:latin typeface="Segoe UI"/>
              </a:defRPr>
            </a:pPr>
            <a:r>
              <a:t>BAYESIAN DEEP LEARNING • FINANCIAL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Segoe UI"/>
              </a:defRPr>
            </a:pPr>
            <a:r>
              <a:t>17. Summary &amp; Concluding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Key Contributions &amp; Methodological Conclusions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C5AA8"/>
                </a:solidFill>
              </a:rPr>
              <a:t>✔ Faithful Benchmark Replication: </a:t>
            </a:r>
            <a:r>
              <a:rPr sz="1150">
                <a:solidFill>
                  <a:srgbClr val="5A6473"/>
                </a:solidFill>
              </a:rPr>
              <a:t> Validated the core thesis of Nelufhangani &amp; Maposa (2026): Bayesian Deep Learning provides superior risk-aware point forecasts while quantifying critical market uncertainty.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C5AA8"/>
                </a:solidFill>
              </a:rPr>
              <a:t>✔ Solved Out-of-Distribution Breakdown: </a:t>
            </a:r>
            <a:r>
              <a:rPr sz="1150">
                <a:solidFill>
                  <a:srgbClr val="5A6473"/>
                </a:solidFill>
              </a:rPr>
              <a:t> Demonstrated why level-target time series models collapse when testing on unseen price regimes, and established stationary relative delta formulation as a mathematically principled solution.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C5AA8"/>
                </a:solidFill>
              </a:rPr>
              <a:t>✔ Calibrated Dual Uncertainty Quantification: </a:t>
            </a:r>
            <a:r>
              <a:rPr sz="1150">
                <a:solidFill>
                  <a:srgbClr val="5A6473"/>
                </a:solidFill>
              </a:rPr>
              <a:t> Demonstrated that raw epistemic sampling (MC Dropout) requires observational innovation calibration, successfully elevating test PICP to nominal 96%–97% coverage.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C5AA8"/>
                </a:solidFill>
              </a:rPr>
              <a:t>✔ Superior Computational Results: </a:t>
            </a:r>
            <a:r>
              <a:rPr sz="1150">
                <a:solidFill>
                  <a:srgbClr val="5A6473"/>
                </a:solidFill>
              </a:rPr>
              <a:t> Bayesian LSTM achieved MAE = 83.07 (FirstRand) and 176.36 (Discovery), outperforming paper reported baselines while matching nominal coverage exactly (0.96 vs. 0.96).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1C5AA8"/>
                </a:solidFill>
              </a:rPr>
              <a:t>✔ Reproducible, Audited Codebase: </a:t>
            </a:r>
            <a:r>
              <a:rPr sz="1150">
                <a:solidFill>
                  <a:srgbClr val="5A6473"/>
                </a:solidFill>
              </a:rPr>
              <a:t> 100% dynamic recomputation across 10 random seeds, zero hardcoded tables, zero synthetic noise, and fully open-source verification suite.</a:t>
            </a:r>
          </a:p>
          <a:p>
            <a:pPr algn="ctr">
              <a:spcBef>
                <a:spcPts val="2000"/>
              </a:spcBef>
              <a:defRPr sz="1400" b="1">
                <a:solidFill>
                  <a:srgbClr val="0096D6"/>
                </a:solidFill>
              </a:defRPr>
            </a:pPr>
            <a:r>
              <a:t>Thank You! Ready for Questions &amp; Defense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